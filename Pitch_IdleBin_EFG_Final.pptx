
<file path=[Content_Types].xml><?xml version="1.0" encoding="utf-8"?>
<ns0:Types xmlns:ns0="http://schemas.openxmlformats.org/package/2006/content-types">
  <ns0:Default ContentType="application/x-fontdata" Extension="fntdata"/>
  <ns0:Default ContentType="image/jpeg" Extension="jpeg"/>
  <ns0:Default ContentType="application/vnd.openxmlformats-package.relationships+xml" Extension="rels"/>
  <ns0:Default ContentType="application/xml" Extension="xml"/>
  <ns0:Override ContentType="application/vnd.openxmlformats-officedocument.extended-properties+xml" PartName="/docProps/app.xml"/>
  <ns0:Override ContentType="application/vnd.openxmlformats-package.core-properties+xml" PartName="/docProps/core.xml"/>
  <ns0:Override ContentType="application/vnd.openxmlformats-officedocument.presentationml.presentation.main+xml" PartName="/ppt/presentation.xml"/>
  <ns0:Override ContentType="application/vnd.openxmlformats-officedocument.presentationml.presProps+xml" PartName="/ppt/presProps.xml"/>
  <ns0:Override ContentType="application/vnd.openxmlformats-officedocument.presentationml.slideLayout+xml" PartName="/ppt/slideLayouts/slideLayout1.xml"/>
  <ns0:Override ContentType="application/vnd.openxmlformats-officedocument.presentationml.slideLayout+xml" PartName="/ppt/slideLayouts/slideLayout2.xml"/>
  <ns0:Override ContentType="application/vnd.openxmlformats-officedocument.presentationml.slideLayout+xml" PartName="/ppt/slideLayouts/slideLayout3.xml"/>
  <ns0:Override ContentType="application/vnd.openxmlformats-officedocument.presentationml.slideLayout+xml" PartName="/ppt/slideLayouts/slideLayout4.xml"/>
  <ns0:Override ContentType="application/vnd.openxmlformats-officedocument.presentationml.slideLayout+xml" PartName="/ppt/slideLayouts/slideLayout5.xml"/>
  <ns0:Override ContentType="application/vnd.openxmlformats-officedocument.presentationml.slideLayout+xml" PartName="/ppt/slideLayouts/slideLayout6.xml"/>
  <ns0:Override ContentType="application/vnd.openxmlformats-officedocument.presentationml.slideLayout+xml" PartName="/ppt/slideLayouts/slideLayout7.xml"/>
  <ns0:Override ContentType="application/vnd.openxmlformats-officedocument.presentationml.slideLayout+xml" PartName="/ppt/slideLayouts/slideLayout8.xml"/>
  <ns0:Override ContentType="application/vnd.openxmlformats-officedocument.presentationml.slideLayout+xml" PartName="/ppt/slideLayouts/slideLayout9.xml"/>
  <ns0:Override ContentType="application/vnd.openxmlformats-officedocument.presentationml.slideLayout+xml" PartName="/ppt/slideLayouts/slideLayout10.xml"/>
  <ns0:Override ContentType="application/vnd.openxmlformats-officedocument.presentationml.slideLayout+xml" PartName="/ppt/slideLayouts/slideLayout11.xml"/>
  <ns0:Override ContentType="application/vnd.openxmlformats-officedocument.presentationml.slideMaster+xml" PartName="/ppt/slideMasters/slideMaster1.xml"/>
  <ns0:Override ContentType="application/vnd.openxmlformats-officedocument.presentationml.tableStyles+xml" PartName="/ppt/tableStyles.xml"/>
  <ns0:Override ContentType="application/vnd.openxmlformats-officedocument.theme+xml" PartName="/ppt/theme/theme1.xml"/>
  <ns0:Override ContentType="application/vnd.openxmlformats-officedocument.presentationml.viewProps+xml" PartName="/ppt/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ns0: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defaultTextStyle>
    <a:defPPr>
      <a:defRPr lang="en-US"/>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
    <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
</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arget="../slideLayouts/slideLayout7.xml" Type="http://schemas.openxmlformats.org/officeDocument/2006/relationships/slideLayout"/>
    <Relationship Id="rId2" Target="../media/image1.jpeg" Type="http://schemas.openxmlformats.org/officeDocument/2006/relationships/image"/>
</Relationships>
</file>

<file path=ppt/slides/_rels/slide2.xml.rels><?xml version="1.0" encoding="UTF-8" standalone="yes"?>
<Relationships xmlns="http://schemas.openxmlformats.org/package/2006/relationships">
    <Relationship Id="rId1" Target="../slideLayouts/slideLayout7.xml" Type="http://schemas.openxmlformats.org/officeDocument/2006/relationships/slideLayout"/>
</Relationships>
</file>

<file path=ppt/slides/_rels/slide3.xml.rels><?xml version="1.0" encoding="UTF-8" standalone="yes"?>
<Relationships xmlns="http://schemas.openxmlformats.org/package/2006/relationships">
    <Relationship Id="rId1" Target="../slideLayouts/slideLayout7.xml" Type="http://schemas.openxmlformats.org/officeDocument/2006/relationships/slideLayout"/>
</Relationships>
</file>

<file path=ppt/slides/_rels/slide4.xml.rels><?xml version="1.0" encoding="UTF-8" standalone="yes"?>
<Relationships xmlns="http://schemas.openxmlformats.org/package/2006/relationships">
    <Relationship Id="rId1" Target="../slideLayouts/slideLayout7.xml" Type="http://schemas.openxmlformats.org/officeDocument/2006/relationships/slideLayout"/>
</Relationships>
</file>

<file path=ppt/slides/_rels/slide5.xml.rels><?xml version="1.0" encoding="UTF-8" standalone="yes"?>
<Relationships xmlns="http://schemas.openxmlformats.org/package/2006/relationships">
    <Relationship Id="rId1" Target="../slideLayouts/slideLayout7.xml" Type="http://schemas.openxmlformats.org/officeDocument/2006/relationships/slideLayout"/>
</Relationships>
</file>

<file path=ppt/slides/_rels/slide6.xml.rels><?xml version="1.0" encoding="UTF-8" standalone="yes"?>
<Relationships xmlns="http://schemas.openxmlformats.org/package/2006/relationships">
    <Relationship Id="rId1" Target="../slideLayouts/slideLayout7.xml" Type="http://schemas.openxmlformats.org/officeDocument/2006/relationships/slideLayout"/>
</Relationships>
</file>

<file path=ppt/slides/_rels/slide7.xml.rels><?xml version="1.0" encoding="UTF-8" standalone="yes"?>
<Relationships xmlns="http://schemas.openxmlformats.org/package/2006/relationships">
    <Relationship Id="rId1" Target="../slideLayouts/slideLayout7.xml" Type="http://schemas.openxmlformats.org/officeDocument/2006/relationships/slideLayout"/>
</Relationships>
</file>

<file path=ppt/slides/_rels/slide8.xml.rels><?xml version="1.0" encoding="UTF-8" standalone="yes"?>
<Relationships xmlns="http://schemas.openxmlformats.org/package/2006/relationships">
    <Relationship Id="rId1" Target="../slideLayouts/slideLayout7.xml" Type="http://schemas.openxmlformats.org/officeDocument/2006/relationships/slideLayout"/>
</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9" id="9"/>
          <p:cNvSpPr/>
          <p:nvPr/>
        </p:nvSpPr>
        <p:spPr>
          <a:xfrm flipH="false" flipV="false" rot="0">
            <a:off x="5297028" y="250000"/>
            <a:ext cx="7693943" cy="1955605"/>
          </a:xfrm>
          <a:custGeom>
            <a:avLst/>
            <a:gdLst/>
            <a:ahLst/>
            <a:cxnLst/>
            <a:rect l="0" t="0" r="0" b="0"/>
            <a:pathLst>
              <a:path w="814" h="207">
                <a:moveTo>
                  <a:pt x="0" y="0"/>
                </a:moveTo>
                <a:lnTo>
                  <a:pt x="814" y="0"/>
                </a:lnTo>
                <a:lnTo>
                  <a:pt x="814" y="207"/>
                </a:lnTo>
                <a:lnTo>
                  <a:pt x="0" y="207"/>
                </a:lnTo>
                <a:close/>
              </a:path>
            </a:pathLst>
          </a:custGeom>
          <a:blipFill rotWithShape="true">
            <a:blip r:embed="rId2"/>
            <a:srcRect l="0" t="0" r="0" b="0"/>
            <a:stretch>
              <a:fillRect/>
            </a:stretch>
          </a:blipFill>
        </p:spPr>
      </p:sp>
      <p:sp>
        <p:nvSpPr>
          <p:cNvPr name="Title Box" id="10"/>
          <p:cNvSpPr txBox="true"/>
          <p:nvPr/>
        </p:nvSpPr>
        <p:spPr>
          <a:xfrm rot="0">
            <a:off x="1028700" y="2200000"/>
            <a:ext cx="16230600" cy="1550000"/>
          </a:xfrm>
          <a:prstGeom prst="rect">
            <a:avLst/>
          </a:prstGeom>
          <a:noFill/>
          <a:ln>
            <a:noFill/>
          </a:ln>
        </p:spPr>
        <p:txBody>
          <a:bodyPr anchor="t" rtlCol="false" tIns="72000" lIns="216000" bIns="72000" rIns="216000">
            <a:spAutoFit/>
          </a:bodyPr>
          <a:lstStyle/>
          <a:p>
            <a:pPr algn="ctr">
              <a:lnSpc>
                <a:spcPts val="4400"/>
              </a:lnSpc>
              <a:spcAft>
                <a:spcPts val="600"/>
              </a:spcAft>
            </a:pPr>
            <a:r>
              <a:rPr lang="en-US" sz="4400" b="true" i="false">
                <a:solidFill>
                  <a:srgbClr val="1B4D3E"/>
                </a:solidFill>
                <a:latin typeface="Times New Roman"/>
                <a:ea typeface="Times New Roman"/>
                <a:cs typeface="Times New Roman"/>
                <a:sym typeface="Times New Roman"/>
              </a:rPr>
              <a:t>IDLEBIN</a:t>
            </a:r>
          </a:p>
          <a:p>
            <a:pPr algn="ctr">
              <a:lnSpc>
                <a:spcPts val="2600"/>
              </a:lnSpc>
              <a:spcAft>
                <a:spcPts val="400"/>
              </a:spcAft>
            </a:pPr>
            <a:r>
              <a:rPr lang="en-US" sz="2200" b="false" i="true">
                <a:solidFill>
                  <a:srgbClr val="2D3748"/>
                </a:solidFill>
                <a:latin typeface="Times New Roman"/>
                <a:ea typeface="Times New Roman"/>
                <a:cs typeface="Times New Roman"/>
                <a:sym typeface="Times New Roman"/>
              </a:rPr>
              <a:t>Zero-Electricity Foot-Compacting Community Dustbin</a:t>
            </a:r>
          </a:p>
          <a:p>
            <a:pPr algn="ctr">
              <a:lnSpc>
                <a:spcPts val="2000"/>
              </a:lnSpc>
            </a:pPr>
            <a:r>
              <a:rPr lang="en-US" sz="1500" b="false" i="false">
                <a:solidFill>
                  <a:srgbClr val="4A5568"/>
                </a:solidFill>
                <a:latin typeface="Times New Roman"/>
                <a:ea typeface="Times New Roman"/>
                <a:cs typeface="Times New Roman"/>
                <a:sym typeface="Times New Roman"/>
              </a:rPr>
              <a:t>Track: Waste Reduction, Segregation &amp; Circular Economy | Pondicherry University Grand Finale</a:t>
            </a:r>
          </a:p>
        </p:txBody>
      </p:sp>
      <p:sp>
        <p:nvSpPr>
          <p:cNvPr name="Team Credentials Card" id="11"/>
          <p:cNvSpPr txBox="true"/>
          <p:nvPr/>
        </p:nvSpPr>
        <p:spPr>
          <a:xfrm rot="0">
            <a:off x="1028700" y="3800000"/>
            <a:ext cx="7900000" cy="5650000"/>
          </a:xfrm>
          <a:prstGeom prst="rect">
            <a:avLst/>
          </a:prstGeom>
          <a:solidFill>
            <a:srgbClr val="F7FAFC"/>
          </a:solidFill>
          <a:ln w="15000">
            <a:solidFill>
              <a:srgbClr val="CBD5E0"/>
            </a:solidFill>
          </a:ln>
        </p:spPr>
        <p:txBody>
          <a:bodyPr anchor="t" rtlCol="false" tIns="216000" lIns="288000" bIns="216000" rIns="288000">
            <a:spAutoFit/>
          </a:bodyPr>
          <a:lstStyle/>
          <a:p>
            <a:pPr algn="l">
              <a:lnSpc>
                <a:spcPts val="2800"/>
              </a:lnSpc>
              <a:spcAft>
                <a:spcPts val="1000"/>
              </a:spcAft>
            </a:pPr>
            <a:r>
              <a:rPr lang="en-US" sz="2100" b="true" i="false">
                <a:solidFill>
                  <a:srgbClr val="1B4D3E"/>
                </a:solidFill>
                <a:latin typeface="Times New Roman"/>
                <a:ea typeface="Times New Roman"/>
                <a:cs typeface="Times New Roman"/>
                <a:sym typeface="Times New Roman"/>
              </a:rPr>
              <a:t>TEAM IDENTIFICATION &amp; CREDENTIALS</a:t>
            </a:r>
          </a:p>
          <a:p>
            <a:pPr algn="l">
              <a:lnSpc>
                <a:spcPts val="2400"/>
              </a:lnSpc>
              <a:spcAft>
                <a:spcPts val="600"/>
              </a:spcAft>
            </a:pPr>
            <a:r>
              <a:rPr lang="en-US" sz="1800" b="true" i="false">
                <a:solidFill>
                  <a:srgbClr val="2D3748"/>
                </a:solidFill>
                <a:latin typeface="Times New Roman"/>
                <a:ea typeface="Times New Roman"/>
                <a:cs typeface="Times New Roman"/>
                <a:sym typeface="Times New Roman"/>
              </a:rPr>
              <a:t>Team Code: </a:t>
            </a:r>
            <a:r>
              <a:rPr lang="en-US" sz="1800" b="true" i="false">
                <a:solidFill>
                  <a:srgbClr val="2B6CB0"/>
                </a:solidFill>
                <a:latin typeface="Times New Roman"/>
                <a:ea typeface="Times New Roman"/>
                <a:cs typeface="Times New Roman"/>
                <a:sym typeface="Times New Roman"/>
              </a:rPr>
              <a:t>EFG-090  |  </a:t>
            </a:r>
            <a:r>
              <a:rPr lang="en-US" sz="1800" b="true" i="false">
                <a:solidFill>
                  <a:srgbClr val="2D3748"/>
                </a:solidFill>
                <a:latin typeface="Times New Roman"/>
                <a:ea typeface="Times New Roman"/>
                <a:cs typeface="Times New Roman"/>
                <a:sym typeface="Times New Roman"/>
              </a:rPr>
              <a:t>Team Name: </a:t>
            </a:r>
            <a:r>
              <a:rPr lang="en-US" sz="1800" b="true" i="false">
                <a:solidFill>
                  <a:srgbClr val="2B6CB0"/>
                </a:solidFill>
                <a:latin typeface="Times New Roman"/>
                <a:ea typeface="Times New Roman"/>
                <a:cs typeface="Times New Roman"/>
                <a:sym typeface="Times New Roman"/>
              </a:rPr>
              <a:t>IDLEBIN</a:t>
            </a:r>
          </a:p>
          <a:p>
            <a:pPr algn="l">
              <a:lnSpc>
                <a:spcPts val="2400"/>
              </a:lnSpc>
              <a:spcAft>
                <a:spcPts val="600"/>
              </a:spcAft>
            </a:pPr>
            <a:r>
              <a:rPr lang="en-US" sz="1800" b="true" i="false">
                <a:solidFill>
                  <a:srgbClr val="2D3748"/>
                </a:solidFill>
                <a:latin typeface="Times New Roman"/>
                <a:ea typeface="Times New Roman"/>
                <a:cs typeface="Times New Roman"/>
                <a:sym typeface="Times New Roman"/>
              </a:rPr>
              <a:t>Institution: </a:t>
            </a:r>
            <a:r>
              <a:rPr lang="en-US" sz="1800" b="false" i="false">
                <a:solidFill>
                  <a:srgbClr val="1A202C"/>
                </a:solidFill>
                <a:latin typeface="Times New Roman"/>
                <a:ea typeface="Times New Roman"/>
                <a:cs typeface="Times New Roman"/>
                <a:sym typeface="Times New Roman"/>
              </a:rPr>
              <a:t>Easwari Engineering College, Chennai</a:t>
            </a:r>
          </a:p>
          <a:p>
            <a:pPr algn="l">
              <a:lnSpc>
                <a:spcPts val="2200"/>
              </a:lnSpc>
              <a:spcAft>
                <a:spcPts val="1000"/>
              </a:spcAft>
            </a:pPr>
            <a:r>
              <a:rPr lang="en-US" sz="1700" b="true" i="false">
                <a:solidFill>
                  <a:srgbClr val="2D3748"/>
                </a:solidFill>
                <a:latin typeface="Times New Roman"/>
                <a:ea typeface="Times New Roman"/>
                <a:cs typeface="Times New Roman"/>
                <a:sym typeface="Times New Roman"/>
              </a:rPr>
              <a:t>Affiliation: </a:t>
            </a:r>
            <a:r>
              <a:rPr lang="en-US" sz="1700" b="false" i="false">
                <a:solidFill>
                  <a:srgbClr val="4A5568"/>
                </a:solidFill>
                <a:latin typeface="Times New Roman"/>
                <a:ea typeface="Times New Roman"/>
                <a:cs typeface="Times New Roman"/>
                <a:sym typeface="Times New Roman"/>
              </a:rPr>
              <a:t>Autonomous | Affiliated to Anna University</a:t>
            </a:r>
          </a:p>
          <a:p>
            <a:pPr algn="l">
              <a:lnSpc>
                <a:spcPts val="2400"/>
              </a:lnSpc>
              <a:spcAft>
                <a:spcPts val="600"/>
              </a:spcAft>
            </a:pPr>
            <a:r>
              <a:rPr lang="en-US" sz="1850" b="true" i="false">
                <a:solidFill>
                  <a:srgbClr val="1B4D3E"/>
                </a:solidFill>
                <a:latin typeface="Times New Roman"/>
                <a:ea typeface="Times New Roman"/>
                <a:cs typeface="Times New Roman"/>
                <a:sym typeface="Times New Roman"/>
              </a:rPr>
              <a:t>Team Members (5 Student Engineers):</a:t>
            </a:r>
          </a:p>
          <a:p>
            <a:pPr algn="l">
              <a:lnSpc>
                <a:spcPts val="2200"/>
              </a:lnSpc>
              <a:spcAft>
                <a:spcPts val="400"/>
              </a:spcAft>
            </a:pPr>
            <a:r>
              <a:rPr lang="en-US" sz="1700" b="true" i="false">
                <a:solidFill>
                  <a:srgbClr val="1A202C"/>
                </a:solidFill>
                <a:latin typeface="Times New Roman"/>
                <a:ea typeface="Times New Roman"/>
                <a:cs typeface="Times New Roman"/>
                <a:sym typeface="Times New Roman"/>
              </a:rPr>
              <a:t>1. Shreeprasandh K </a:t>
            </a:r>
            <a:r>
              <a:rPr lang="en-US" sz="1600" b="false" i="false">
                <a:solidFill>
                  <a:srgbClr val="4A5568"/>
                </a:solidFill>
                <a:latin typeface="Times New Roman"/>
                <a:ea typeface="Times New Roman"/>
                <a:cs typeface="Times New Roman"/>
                <a:sym typeface="Times New Roman"/>
              </a:rPr>
              <a:t>(Team Leader | Dept. of IT)</a:t>
            </a:r>
          </a:p>
          <a:p>
            <a:pPr algn="l">
              <a:lnSpc>
                <a:spcPts val="2200"/>
              </a:lnSpc>
              <a:spcAft>
                <a:spcPts val="400"/>
              </a:spcAft>
            </a:pPr>
            <a:r>
              <a:rPr lang="en-US" sz="1700" b="true" i="false">
                <a:solidFill>
                  <a:srgbClr val="1A202C"/>
                </a:solidFill>
                <a:latin typeface="Times New Roman"/>
                <a:ea typeface="Times New Roman"/>
                <a:cs typeface="Times New Roman"/>
                <a:sym typeface="Times New Roman"/>
              </a:rPr>
              <a:t>2. Sivaram Venugopal </a:t>
            </a:r>
            <a:r>
              <a:rPr lang="en-US" sz="1600" b="false" i="false">
                <a:solidFill>
                  <a:srgbClr val="4A5568"/>
                </a:solidFill>
                <a:latin typeface="Times New Roman"/>
                <a:ea typeface="Times New Roman"/>
                <a:cs typeface="Times New Roman"/>
                <a:sym typeface="Times New Roman"/>
              </a:rPr>
              <a:t>(Member | Mechanical Linkages &amp; CAD)</a:t>
            </a:r>
          </a:p>
          <a:p>
            <a:pPr algn="l">
              <a:lnSpc>
                <a:spcPts val="2200"/>
              </a:lnSpc>
              <a:spcAft>
                <a:spcPts val="400"/>
              </a:spcAft>
            </a:pPr>
            <a:r>
              <a:rPr lang="en-US" sz="1700" b="true" i="false">
                <a:solidFill>
                  <a:srgbClr val="1A202C"/>
                </a:solidFill>
                <a:latin typeface="Times New Roman"/>
                <a:ea typeface="Times New Roman"/>
                <a:cs typeface="Times New Roman"/>
                <a:sym typeface="Times New Roman"/>
              </a:rPr>
              <a:t>3. Shrihari Mohanraj </a:t>
            </a:r>
            <a:r>
              <a:rPr lang="en-US" sz="1600" b="false" i="false">
                <a:solidFill>
                  <a:srgbClr val="4A5568"/>
                </a:solidFill>
                <a:latin typeface="Times New Roman"/>
                <a:ea typeface="Times New Roman"/>
                <a:cs typeface="Times New Roman"/>
                <a:sym typeface="Times New Roman"/>
              </a:rPr>
              <a:t>(Member | Fabrication &amp; Testing)</a:t>
            </a:r>
          </a:p>
          <a:p>
            <a:pPr algn="l">
              <a:lnSpc>
                <a:spcPts val="2200"/>
              </a:lnSpc>
              <a:spcAft>
                <a:spcPts val="400"/>
              </a:spcAft>
            </a:pPr>
            <a:r>
              <a:rPr lang="en-US" sz="1700" b="true" i="false">
                <a:solidFill>
                  <a:srgbClr val="1A202C"/>
                </a:solidFill>
                <a:latin typeface="Times New Roman"/>
                <a:ea typeface="Times New Roman"/>
                <a:cs typeface="Times New Roman"/>
                <a:sym typeface="Times New Roman"/>
              </a:rPr>
              <a:t>4. Dhanudharan K S </a:t>
            </a:r>
            <a:r>
              <a:rPr lang="en-US" sz="1600" b="false" i="false">
                <a:solidFill>
                  <a:srgbClr val="4A5568"/>
                </a:solidFill>
                <a:latin typeface="Times New Roman"/>
                <a:ea typeface="Times New Roman"/>
                <a:cs typeface="Times New Roman"/>
                <a:sym typeface="Times New Roman"/>
              </a:rPr>
              <a:t>(Member | Surveys &amp; Data Validation)</a:t>
            </a:r>
          </a:p>
          <a:p>
            <a:pPr algn="l">
              <a:lnSpc>
                <a:spcPts val="2200"/>
              </a:lnSpc>
              <a:spcAft>
                <a:spcPts val="1000"/>
              </a:spcAft>
            </a:pPr>
            <a:r>
              <a:rPr lang="en-US" sz="1700" b="true" i="false">
                <a:solidFill>
                  <a:srgbClr val="1A202C"/>
                </a:solidFill>
                <a:latin typeface="Times New Roman"/>
                <a:ea typeface="Times New Roman"/>
                <a:cs typeface="Times New Roman"/>
                <a:sym typeface="Times New Roman"/>
              </a:rPr>
              <a:t>5. Mithun Thangaraj </a:t>
            </a:r>
            <a:r>
              <a:rPr lang="en-US" sz="1600" b="false" i="false">
                <a:solidFill>
                  <a:srgbClr val="4A5568"/>
                </a:solidFill>
                <a:latin typeface="Times New Roman"/>
                <a:ea typeface="Times New Roman"/>
                <a:cs typeface="Times New Roman"/>
                <a:sym typeface="Times New Roman"/>
              </a:rPr>
              <a:t>(Member | Cost &amp; SBM Compliance)</a:t>
            </a:r>
          </a:p>
          <a:p>
            <a:pPr algn="l">
              <a:lnSpc>
                <a:spcPts val="2400"/>
              </a:lnSpc>
            </a:pPr>
            <a:r>
              <a:rPr lang="en-US" sz="1750" b="true" i="false">
                <a:solidFill>
                  <a:srgbClr val="2D3748"/>
                </a:solidFill>
                <a:latin typeface="Times New Roman"/>
                <a:ea typeface="Times New Roman"/>
                <a:cs typeface="Times New Roman"/>
                <a:sym typeface="Times New Roman"/>
              </a:rPr>
              <a:t>Lead Contact: </a:t>
            </a:r>
            <a:r>
              <a:rPr lang="en-US" sz="1750" b="false" i="false">
                <a:solidFill>
                  <a:srgbClr val="2B6CB0"/>
                </a:solidFill>
                <a:latin typeface="Times New Roman"/>
                <a:ea typeface="Times New Roman"/>
                <a:cs typeface="Times New Roman"/>
                <a:sym typeface="Times New Roman"/>
              </a:rPr>
              <a:t>shreeprasandh@gmail.com</a:t>
            </a:r>
          </a:p>
        </p:txBody>
      </p:sp>
      <p:sp>
        <p:nvSpPr>
          <p:cNvPr name="Elevator Pitch Card" id="12"/>
          <p:cNvSpPr txBox="true"/>
          <p:nvPr/>
        </p:nvSpPr>
        <p:spPr>
          <a:xfrm rot="0">
            <a:off x="9350000" y="3800000"/>
            <a:ext cx="7909300" cy="5650000"/>
          </a:xfrm>
          <a:prstGeom prst="rect">
            <a:avLst/>
          </a:prstGeom>
          <a:solidFill>
            <a:srgbClr val="F7FAFC"/>
          </a:solidFill>
          <a:ln w="15000">
            <a:solidFill>
              <a:srgbClr val="CBD5E0"/>
            </a:solidFill>
          </a:ln>
        </p:spPr>
        <p:txBody>
          <a:bodyPr anchor="t" rtlCol="false" tIns="200000" lIns="288000" bIns="200000" rIns="288000">
            <a:spAutoFit/>
          </a:bodyPr>
          <a:lstStyle/>
          <a:p>
            <a:pPr algn="l">
              <a:lnSpc>
                <a:spcPts val="2800"/>
              </a:lnSpc>
              <a:spcAft>
                <a:spcPts val="900"/>
              </a:spcAft>
            </a:pPr>
            <a:r>
              <a:rPr lang="en-US" sz="2100" b="true" i="false">
                <a:solidFill>
                  <a:srgbClr val="1B4D3E"/>
                </a:solidFill>
                <a:latin typeface="Times New Roman"/>
                <a:ea typeface="Times New Roman"/>
                <a:cs typeface="Times New Roman"/>
                <a:sym typeface="Times New Roman"/>
              </a:rPr>
              <a:t>THE ELEVATOR PITCH</a:t>
            </a:r>
          </a:p>
          <a:p>
            <a:pPr algn="just">
              <a:lnSpc>
                <a:spcPts val="2600"/>
              </a:lnSpc>
              <a:spcAft>
                <a:spcPts val="1000"/>
              </a:spcAft>
            </a:pPr>
            <a:r>
              <a:rPr lang="en-US" sz="1850" b="true" i="true">
                <a:solidFill>
                  <a:srgbClr val="1A202C"/>
                </a:solidFill>
                <a:latin typeface="Times New Roman"/>
                <a:ea typeface="Times New Roman"/>
                <a:cs typeface="Times New Roman"/>
                <a:sym typeface="Times New Roman"/>
              </a:rPr>
              <a:t>"IdleBin is a zero-electricity, foot-operated community dustbin that mechanically crushes plastic bottles and packets flat with 600 Newtons of human foot force, holding 4 times more waste so garbage never overflows onto Indian streets."</a:t>
            </a:r>
          </a:p>
          <a:p>
            <a:pPr algn="l">
              <a:lnSpc>
                <a:spcPts val="2400"/>
              </a:lnSpc>
              <a:spcAft>
                <a:spcPts val="700"/>
              </a:spcAft>
            </a:pPr>
            <a:r>
              <a:rPr lang="en-US" sz="1800" b="true" i="false">
                <a:solidFill>
                  <a:srgbClr val="2D3748"/>
                </a:solidFill>
                <a:latin typeface="Times New Roman"/>
                <a:ea typeface="Times New Roman"/>
                <a:cs typeface="Times New Roman"/>
                <a:sym typeface="Times New Roman"/>
              </a:rPr>
              <a:t>Three Core Foundational Pillars:</a:t>
            </a:r>
          </a:p>
          <a:p>
            <a:pPr algn="just">
              <a:lnSpc>
                <a:spcPts val="2350"/>
              </a:lnSpc>
              <a:spcAft>
                <a:spcPts val="700"/>
              </a:spcAft>
            </a:pPr>
            <a:r>
              <a:rPr lang="en-US" sz="1700" b="true" i="false">
                <a:solidFill>
                  <a:srgbClr val="1B4D3E"/>
                </a:solidFill>
                <a:latin typeface="Times New Roman"/>
                <a:ea typeface="Times New Roman"/>
                <a:cs typeface="Times New Roman"/>
                <a:sym typeface="Times New Roman"/>
              </a:rPr>
              <a:t>1. Zero Electricity Dependency: </a:t>
            </a:r>
            <a:r>
              <a:rPr lang="en-US" sz="1700" b="false" i="false">
                <a:solidFill>
                  <a:srgbClr val="2D3748"/>
                </a:solidFill>
                <a:latin typeface="Times New Roman"/>
                <a:ea typeface="Times New Roman"/>
                <a:cs typeface="Times New Roman"/>
                <a:sym typeface="Times New Roman"/>
              </a:rPr>
              <a:t>Operates 100% mechanically using pure class-1 leverage. No motors, solar panels, or sensors to fail under Indian road dust or monsoons.</a:t>
            </a:r>
          </a:p>
          <a:p>
            <a:pPr algn="just">
              <a:lnSpc>
                <a:spcPts val="2350"/>
              </a:lnSpc>
              <a:spcAft>
                <a:spcPts val="700"/>
              </a:spcAft>
            </a:pPr>
            <a:r>
              <a:rPr lang="en-US" sz="1700" b="true" i="false">
                <a:solidFill>
                  <a:srgbClr val="1B4D3E"/>
                </a:solidFill>
                <a:latin typeface="Times New Roman"/>
                <a:ea typeface="Times New Roman"/>
                <a:cs typeface="Times New Roman"/>
                <a:sym typeface="Times New Roman"/>
              </a:rPr>
              <a:t>2. 4X Volume Compaction: </a:t>
            </a:r>
            <a:r>
              <a:rPr lang="en-US" sz="1700" b="false" i="false">
                <a:solidFill>
                  <a:srgbClr val="2D3748"/>
                </a:solidFill>
                <a:latin typeface="Times New Roman"/>
                <a:ea typeface="Times New Roman"/>
                <a:cs typeface="Times New Roman"/>
                <a:sym typeface="Times New Roman"/>
              </a:rPr>
              <a:t>Eliminates trapped air in plastic bottles immediately at the point of disposal, quadrupling bin capacity and stopping street overflow.</a:t>
            </a:r>
          </a:p>
          <a:p>
            <a:pPr algn="just">
              <a:lnSpc>
                <a:spcPts val="2350"/>
              </a:lnSpc>
            </a:pPr>
            <a:r>
              <a:rPr lang="en-US" sz="1700" b="true" i="false">
                <a:solidFill>
                  <a:srgbClr val="1B4D3E"/>
                </a:solidFill>
                <a:latin typeface="Times New Roman"/>
                <a:ea typeface="Times New Roman"/>
                <a:cs typeface="Times New Roman"/>
                <a:sym typeface="Times New Roman"/>
              </a:rPr>
              <a:t>3. Civic Hygiene &amp; Worker Dignity: </a:t>
            </a:r>
            <a:r>
              <a:rPr lang="en-US" sz="1700" b="false" i="false">
                <a:solidFill>
                  <a:srgbClr val="2D3748"/>
                </a:solidFill>
                <a:latin typeface="Times New Roman"/>
                <a:ea typeface="Times New Roman"/>
                <a:cs typeface="Times New Roman"/>
                <a:sym typeface="Times New Roman"/>
              </a:rPr>
              <a:t>Hands-free pedal removes the disgust factor of touching dirty bins, while dense lift-out bags eliminate manual street shoveling.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Slide Title" id="201"/>
          <p:cNvSpPr txBox="true"/>
          <p:nvPr/>
        </p:nvSpPr>
        <p:spPr>
          <a:xfrm rot="0">
            <a:off x="1028700" y="450000"/>
            <a:ext cx="13500000" cy="850000"/>
          </a:xfrm>
          <a:prstGeom prst="rect">
            <a:avLst/>
          </a:prstGeom>
          <a:noFill/>
          <a:ln>
            <a:noFill/>
          </a:ln>
        </p:spPr>
        <p:txBody>
          <a:bodyPr anchor="t" rtlCol="false" tIns="72000" lIns="216000" bIns="72000" rIns="216000">
            <a:spAutoFit/>
          </a:bodyPr>
          <a:lstStyle/>
          <a:p>
            <a:pPr algn="l">
              <a:lnSpc>
                <a:spcPts val="3600"/>
              </a:lnSpc>
            </a:pPr>
            <a:r>
              <a:rPr lang="en-US" sz="3200" b="true" i="false">
                <a:solidFill>
                  <a:srgbClr val="1A202C"/>
                </a:solidFill>
                <a:latin typeface="Times New Roman"/>
                <a:ea typeface="Times New Roman"/>
                <a:cs typeface="Times New Roman"/>
                <a:sym typeface="Times New Roman"/>
              </a:rPr>
              <a:t>THE PROBLEM: WHY INDIAN STREET BINS FAIL</a:t>
            </a:r>
          </a:p>
        </p:txBody>
      </p:sp>
      <p:sp>
        <p:nvSpPr>
          <p:cNvPr name="Rubric Badge" id="202"/>
          <p:cNvSpPr txBox="true"/>
          <p:nvPr/>
        </p:nvSpPr>
        <p:spPr>
          <a:xfrm rot="0">
            <a:off x="1028700" y="1250000"/>
            <a:ext cx="13500000" cy="550000"/>
          </a:xfrm>
          <a:prstGeom prst="rect">
            <a:avLst/>
          </a:prstGeom>
          <a:noFill/>
          <a:ln>
            <a:noFill/>
          </a:ln>
        </p:spPr>
        <p:txBody>
          <a:bodyPr anchor="t" rtlCol="false" tIns="72000" lIns="216000" bIns="72000" rIns="216000">
            <a:spAutoFit/>
          </a:bodyPr>
          <a:lstStyle/>
          <a:p>
            <a:pPr algn="l">
              <a:lnSpc>
                <a:spcPts val="2000"/>
              </a:lnSpc>
            </a:pPr>
            <a:r>
              <a:rPr lang="en-US" sz="1500" b="true" i="false">
                <a:solidFill>
                  <a:srgbClr val="2B6CB0"/>
                </a:solidFill>
                <a:latin typeface="Times New Roman"/>
                <a:ea typeface="Times New Roman"/>
                <a:cs typeface="Times New Roman"/>
                <a:sym typeface="Times New Roman"/>
              </a:rPr>
              <a:t>RUBRIC 1: CAUSAL ROOT ANALYSIS &amp; GROUND PHENOMENOLOGY [10 MARKS]</a:t>
            </a:r>
          </a:p>
        </p:txBody>
      </p:sp>
      <p:sp>
        <p:nvSpPr>
          <p:cNvPr name="Event Badge" id="203"/>
          <p:cNvSpPr txBox="true"/>
          <p:nvPr/>
        </p:nvSpPr>
        <p:spPr>
          <a:xfrm rot="0">
            <a:off x="14700000" y="450000"/>
            <a:ext cx="2559300" cy="1200000"/>
          </a:xfrm>
          <a:prstGeom prst="rect">
            <a:avLst/>
          </a:prstGeom>
          <a:solidFill>
            <a:srgbClr val="EDF2F7"/>
          </a:solidFill>
          <a:ln w="12700">
            <a:solidFill>
              <a:srgbClr val="CBD5E0"/>
            </a:solidFill>
          </a:ln>
        </p:spPr>
        <p:txBody>
          <a:bodyPr anchor="t" rtlCol="false" tIns="72000" lIns="216000" bIns="72000" rIns="216000">
            <a:spAutoFit/>
          </a:bodyPr>
          <a:lstStyle/>
          <a:p>
            <a:pPr algn="ctr">
              <a:lnSpc>
                <a:spcPts val="2000"/>
              </a:lnSpc>
            </a:pPr>
            <a:r>
              <a:rPr lang="en-US" sz="1400" b="true" i="false">
                <a:solidFill>
                  <a:srgbClr val="2D3748"/>
                </a:solidFill>
                <a:latin typeface="Times New Roman"/>
                <a:ea typeface="Times New Roman"/>
                <a:cs typeface="Times New Roman"/>
                <a:sym typeface="Times New Roman"/>
              </a:rPr>
              <a:t>EMERGE FOR GOOD</a:t>
            </a:r>
          </a:p>
          <a:p>
            <a:pPr algn="ctr">
              <a:lnSpc>
                <a:spcPts val="1800"/>
              </a:lnSpc>
            </a:pPr>
            <a:r>
              <a:rPr lang="en-US" sz="1200" b="false" i="false">
                <a:solidFill>
                  <a:srgbClr val="4A5568"/>
                </a:solidFill>
                <a:latin typeface="Times New Roman"/>
                <a:ea typeface="Times New Roman"/>
                <a:cs typeface="Times New Roman"/>
                <a:sym typeface="Times New Roman"/>
              </a:rPr>
              <a:t>TOP 50 FINALE | OCT 28</a:t>
            </a:r>
          </a:p>
          <a:p>
            <a:pPr algn="ctr">
              <a:lnSpc>
                <a:spcPts val="1800"/>
              </a:lnSpc>
            </a:pPr>
            <a:r>
              <a:rPr lang="en-US" sz="1300" b="true" i="false">
                <a:solidFill>
                  <a:srgbClr val="1B4D3E"/>
                </a:solidFill>
                <a:latin typeface="Times New Roman"/>
                <a:ea typeface="Times New Roman"/>
                <a:cs typeface="Times New Roman"/>
                <a:sym typeface="Times New Roman"/>
              </a:rPr>
              <a:t>TEAM: EFG-090</a:t>
            </a:r>
          </a:p>
        </p:txBody>
      </p:sp>
      <p:sp>
        <p:nvSpPr>
          <p:cNvPr name="Line 204" id="204"/>
          <p:cNvSpPr/>
          <p:nvPr/>
        </p:nvSpPr>
        <p:spPr>
          <a:xfrm>
            <a:off x="1028700" y="1780000"/>
            <a:ext cx="16230600" cy="0"/>
          </a:xfrm>
          <a:prstGeom prst="line">
            <a:avLst/>
          </a:prstGeom>
          <a:ln w="12700">
            <a:solidFill>
              <a:srgbClr val="CBD5E0"/>
            </a:solidFill>
          </a:ln>
        </p:spPr>
      </p:sp>
      <p:sp>
        <p:nvSpPr>
          <p:cNvPr name="Footer Info" id="205"/>
          <p:cNvSpPr txBox="true"/>
          <p:nvPr/>
        </p:nvSpPr>
        <p:spPr>
          <a:xfrm rot="0">
            <a:off x="1028700" y="9600000"/>
            <a:ext cx="16230600" cy="580000"/>
          </a:xfrm>
          <a:prstGeom prst="rect">
            <a:avLst/>
          </a:prstGeom>
          <a:noFill/>
          <a:ln>
            <a:noFill/>
          </a:ln>
        </p:spPr>
        <p:txBody>
          <a:bodyPr anchor="t" rtlCol="false" tIns="72000" lIns="216000" bIns="72000" rIns="216000">
            <a:spAutoFit/>
          </a:bodyPr>
          <a:lstStyle/>
          <a:p>
            <a:pPr algn="l">
              <a:lnSpc>
                <a:spcPts val="2000"/>
              </a:lnSpc>
            </a:pPr>
            <a:r>
              <a:rPr lang="en-US" sz="1300" b="false" i="false">
                <a:solidFill>
                  <a:srgbClr val="718096"/>
                </a:solidFill>
                <a:latin typeface="Times New Roman"/>
                <a:ea typeface="Times New Roman"/>
                <a:cs typeface="Times New Roman"/>
                <a:sym typeface="Times New Roman"/>
              </a:rPr>
              <a:t>IDLEBIN | Grand Finale Innovation Challenge, Pondicherry University  |  Swachh Bharat Mission (SBM-U 2.0) Aligned</a:t>
            </a:r>
            <a:r>
              <a:rPr lang="en-US" sz="1300" b="true" i="false">
                <a:solidFill>
                  <a:srgbClr val="4A5568"/>
                </a:solidFill>
                <a:latin typeface="Times New Roman"/>
                <a:ea typeface="Times New Roman"/>
                <a:cs typeface="Times New Roman"/>
                <a:sym typeface="Times New Roman"/>
              </a:rPr>
              <a:t>                Slide 2 of 8</a:t>
            </a:r>
          </a:p>
        </p:txBody>
      </p:sp>
      <p:sp>
        <p:nvSpPr>
          <p:cNvPr name="Problem Col 1" id="21"/>
          <p:cNvSpPr txBox="true"/>
          <p:nvPr/>
        </p:nvSpPr>
        <p:spPr>
          <a:xfrm rot="0">
            <a:off x="1028700" y="1950000"/>
            <a:ext cx="5000000" cy="7500000"/>
          </a:xfrm>
          <a:prstGeom prst="rect">
            <a:avLst/>
          </a:prstGeom>
          <a:solidFill>
            <a:srgbClr val="FFF5F5"/>
          </a:solidFill>
          <a:ln w="15000">
            <a:solidFill>
              <a:srgbClr val="FEB2B2"/>
            </a:solidFill>
          </a:ln>
        </p:spPr>
        <p:txBody>
          <a:bodyPr anchor="t" rtlCol="false" tIns="252000" lIns="288000" bIns="252000" rIns="288000">
            <a:spAutoFit/>
          </a:bodyPr>
          <a:lstStyle/>
          <a:p>
            <a:pPr algn="l">
              <a:lnSpc>
                <a:spcPts val="2800"/>
              </a:lnSpc>
              <a:spcAft>
                <a:spcPts val="1600"/>
              </a:spcAft>
            </a:pPr>
            <a:r>
              <a:rPr lang="en-US" sz="2200" b="true" i="false">
                <a:solidFill>
                  <a:srgbClr val="9B2C2C"/>
                </a:solidFill>
                <a:latin typeface="Times New Roman"/>
                <a:ea typeface="Times New Roman"/>
                <a:cs typeface="Times New Roman"/>
                <a:sym typeface="Times New Roman"/>
              </a:rPr>
              <a:t>1. THE 80% EMPTY AIR TRAP</a:t>
            </a:r>
          </a:p>
          <a:p>
            <a:pPr algn="just">
              <a:lnSpc>
                <a:spcPts val="2650"/>
              </a:lnSpc>
              <a:spcAft>
                <a:spcPts val="1400"/>
              </a:spcAft>
            </a:pPr>
            <a:r>
              <a:rPr lang="en-US" sz="1950" b="false" i="false">
                <a:solidFill>
                  <a:srgbClr val="2D3748"/>
                </a:solidFill>
                <a:latin typeface="Times New Roman"/>
                <a:ea typeface="Times New Roman"/>
                <a:cs typeface="Times New Roman"/>
                <a:sym typeface="Times New Roman"/>
              </a:rPr>
              <a:t>Street dustbins in Indian commercial areas fill up within </a:t>
            </a:r>
            <a:r>
              <a:rPr lang="en-US" sz="1950" b="true" i="false">
                <a:solidFill>
                  <a:srgbClr val="9B2C2C"/>
                </a:solidFill>
                <a:latin typeface="Times New Roman"/>
                <a:ea typeface="Times New Roman"/>
                <a:cs typeface="Times New Roman"/>
                <a:sym typeface="Times New Roman"/>
              </a:rPr>
              <a:t>just 2 to 3 hours </a:t>
            </a:r>
            <a:r>
              <a:rPr lang="en-US" sz="1950" b="false" i="false">
                <a:solidFill>
                  <a:srgbClr val="2D3748"/>
                </a:solidFill>
                <a:latin typeface="Times New Roman"/>
                <a:ea typeface="Times New Roman"/>
                <a:cs typeface="Times New Roman"/>
                <a:sym typeface="Times New Roman"/>
              </a:rPr>
              <a:t>after placement. Crucially, this is not because of heavy solid waste.</a:t>
            </a:r>
          </a:p>
          <a:p>
            <a:pPr algn="just">
              <a:lnSpc>
                <a:spcPts val="2650"/>
              </a:lnSpc>
              <a:spcAft>
                <a:spcPts val="1400"/>
              </a:spcAft>
            </a:pPr>
            <a:r>
              <a:rPr lang="en-US" sz="1950" b="true" i="false">
                <a:solidFill>
                  <a:srgbClr val="1A202C"/>
                </a:solidFill>
                <a:latin typeface="Times New Roman"/>
                <a:ea typeface="Times New Roman"/>
                <a:cs typeface="Times New Roman"/>
                <a:sym typeface="Times New Roman"/>
              </a:rPr>
              <a:t>Over 80% of volume inside street bins is trapped empty air </a:t>
            </a:r>
            <a:r>
              <a:rPr lang="en-US" sz="1950" b="false" i="false">
                <a:solidFill>
                  <a:srgbClr val="2D3748"/>
                </a:solidFill>
                <a:latin typeface="Times New Roman"/>
                <a:ea typeface="Times New Roman"/>
                <a:cs typeface="Times New Roman"/>
                <a:sym typeface="Times New Roman"/>
              </a:rPr>
              <a:t>inside uncrushed PET mineral water bottles, disposable tea cups, and puffed snack sachets.</a:t>
            </a:r>
          </a:p>
          <a:p>
            <a:pPr algn="just">
              <a:lnSpc>
                <a:spcPts val="2650"/>
              </a:lnSpc>
            </a:pPr>
            <a:r>
              <a:rPr lang="en-US" sz="1950" b="false" i="false">
                <a:solidFill>
                  <a:srgbClr val="2D3748"/>
                </a:solidFill>
                <a:latin typeface="Times New Roman"/>
                <a:ea typeface="Times New Roman"/>
                <a:cs typeface="Times New Roman"/>
                <a:sym typeface="Times New Roman"/>
              </a:rPr>
              <a:t>A standard 60-liter municipal bin appears completely full after </a:t>
            </a:r>
            <a:r>
              <a:rPr lang="en-US" sz="1950" b="true" i="false">
                <a:solidFill>
                  <a:srgbClr val="9B2C2C"/>
                </a:solidFill>
                <a:latin typeface="Times New Roman"/>
                <a:ea typeface="Times New Roman"/>
                <a:cs typeface="Times New Roman"/>
                <a:sym typeface="Times New Roman"/>
              </a:rPr>
              <a:t>only 20 to 25 empty bottles. </a:t>
            </a:r>
            <a:r>
              <a:rPr lang="en-US" sz="1950" b="false" i="false">
                <a:solidFill>
                  <a:srgbClr val="2D3748"/>
                </a:solidFill>
                <a:latin typeface="Times New Roman"/>
                <a:ea typeface="Times New Roman"/>
                <a:cs typeface="Times New Roman"/>
                <a:sym typeface="Times New Roman"/>
              </a:rPr>
              <a:t>Municipal trucks end up spending fuel hauling empty trapped air across cities.</a:t>
            </a:r>
          </a:p>
        </p:txBody>
      </p:sp>
      <p:sp>
        <p:nvSpPr>
          <p:cNvPr name="Problem Col 2" id="22"/>
          <p:cNvSpPr txBox="true"/>
          <p:nvPr/>
        </p:nvSpPr>
        <p:spPr>
          <a:xfrm rot="0">
            <a:off x="6643700" y="1950000"/>
            <a:ext cx="5000000" cy="7500000"/>
          </a:xfrm>
          <a:prstGeom prst="rect">
            <a:avLst/>
          </a:prstGeom>
          <a:solidFill>
            <a:srgbClr val="FFF5F5"/>
          </a:solidFill>
          <a:ln w="15000">
            <a:solidFill>
              <a:srgbClr val="FEB2B2"/>
            </a:solidFill>
          </a:ln>
        </p:spPr>
        <p:txBody>
          <a:bodyPr anchor="t" rtlCol="false" tIns="252000" lIns="288000" bIns="252000" rIns="288000">
            <a:spAutoFit/>
          </a:bodyPr>
          <a:lstStyle/>
          <a:p>
            <a:pPr algn="l">
              <a:lnSpc>
                <a:spcPts val="2800"/>
              </a:lnSpc>
              <a:spcAft>
                <a:spcPts val="1600"/>
              </a:spcAft>
            </a:pPr>
            <a:r>
              <a:rPr lang="en-US" sz="2200" b="true" i="false">
                <a:solidFill>
                  <a:srgbClr val="9B2C2C"/>
                </a:solidFill>
                <a:latin typeface="Times New Roman"/>
                <a:ea typeface="Times New Roman"/>
                <a:cs typeface="Times New Roman"/>
                <a:sym typeface="Times New Roman"/>
              </a:rPr>
              <a:t>2. THE 10-FOOT TOSS BARRIER</a:t>
            </a:r>
          </a:p>
          <a:p>
            <a:pPr algn="just">
              <a:lnSpc>
                <a:spcPts val="2650"/>
              </a:lnSpc>
              <a:spcAft>
                <a:spcPts val="1400"/>
              </a:spcAft>
            </a:pPr>
            <a:r>
              <a:rPr lang="en-US" sz="1950" b="false" i="false">
                <a:solidFill>
                  <a:srgbClr val="2D3748"/>
                </a:solidFill>
                <a:latin typeface="Times New Roman"/>
                <a:ea typeface="Times New Roman"/>
                <a:cs typeface="Times New Roman"/>
                <a:sym typeface="Times New Roman"/>
              </a:rPr>
              <a:t>Traditional community bins quickly turn rusted, stained, and foul-smelling. Citizens experience severe </a:t>
            </a:r>
            <a:r>
              <a:rPr lang="en-US" sz="1950" b="true" i="false">
                <a:solidFill>
                  <a:srgbClr val="9B2C2C"/>
                </a:solidFill>
                <a:latin typeface="Times New Roman"/>
                <a:ea typeface="Times New Roman"/>
                <a:cs typeface="Times New Roman"/>
                <a:sym typeface="Times New Roman"/>
              </a:rPr>
              <a:t>civic disgust </a:t>
            </a:r>
            <a:r>
              <a:rPr lang="en-US" sz="1950" b="false" i="false">
                <a:solidFill>
                  <a:srgbClr val="2D3748"/>
                </a:solidFill>
                <a:latin typeface="Times New Roman"/>
                <a:ea typeface="Times New Roman"/>
                <a:cs typeface="Times New Roman"/>
                <a:sym typeface="Times New Roman"/>
              </a:rPr>
              <a:t>and refuse to touch bin lids with bare hands.</a:t>
            </a:r>
          </a:p>
          <a:p>
            <a:pPr algn="just">
              <a:lnSpc>
                <a:spcPts val="2650"/>
              </a:lnSpc>
              <a:spcAft>
                <a:spcPts val="1400"/>
              </a:spcAft>
            </a:pPr>
            <a:r>
              <a:rPr lang="en-US" sz="1950" b="true" i="false">
                <a:solidFill>
                  <a:srgbClr val="1A202C"/>
                </a:solidFill>
                <a:latin typeface="Times New Roman"/>
                <a:ea typeface="Times New Roman"/>
                <a:cs typeface="Times New Roman"/>
                <a:sym typeface="Times New Roman"/>
              </a:rPr>
              <a:t>As a result, people hurl waste bags from 5 to 10 feet away. </a:t>
            </a:r>
            <a:r>
              <a:rPr lang="en-US" sz="1950" b="false" i="false">
                <a:solidFill>
                  <a:srgbClr val="2D3748"/>
                </a:solidFill>
                <a:latin typeface="Times New Roman"/>
                <a:ea typeface="Times New Roman"/>
                <a:cs typeface="Times New Roman"/>
                <a:sym typeface="Times New Roman"/>
              </a:rPr>
              <a:t>Bags burst against the road curb, spilling wet kitchen refuse onto sidewalks.</a:t>
            </a:r>
          </a:p>
          <a:p>
            <a:pPr algn="just">
              <a:lnSpc>
                <a:spcPts val="2650"/>
              </a:lnSpc>
            </a:pPr>
            <a:r>
              <a:rPr lang="en-US" sz="1950" b="false" i="false">
                <a:solidFill>
                  <a:srgbClr val="2D3748"/>
                </a:solidFill>
                <a:latin typeface="Times New Roman"/>
                <a:ea typeface="Times New Roman"/>
                <a:cs typeface="Times New Roman"/>
                <a:sym typeface="Times New Roman"/>
              </a:rPr>
              <a:t>This behavioral bottleneck sparks permanent </a:t>
            </a:r>
            <a:r>
              <a:rPr lang="en-US" sz="1950" b="true" i="false">
                <a:solidFill>
                  <a:srgbClr val="9B2C2C"/>
                </a:solidFill>
                <a:latin typeface="Times New Roman"/>
                <a:ea typeface="Times New Roman"/>
                <a:cs typeface="Times New Roman"/>
                <a:sym typeface="Times New Roman"/>
              </a:rPr>
              <a:t>"Garbage Vulnerable Points" (GVPs) </a:t>
            </a:r>
            <a:r>
              <a:rPr lang="en-US" sz="1950" b="false" i="false">
                <a:solidFill>
                  <a:srgbClr val="2D3748"/>
                </a:solidFill>
                <a:latin typeface="Times New Roman"/>
                <a:ea typeface="Times New Roman"/>
                <a:cs typeface="Times New Roman"/>
                <a:sym typeface="Times New Roman"/>
              </a:rPr>
              <a:t>around existing bins, defeating municipal sanitation efforts.</a:t>
            </a:r>
          </a:p>
        </p:txBody>
      </p:sp>
      <p:sp>
        <p:nvSpPr>
          <p:cNvPr name="Problem Col 3" id="23"/>
          <p:cNvSpPr txBox="true"/>
          <p:nvPr/>
        </p:nvSpPr>
        <p:spPr>
          <a:xfrm rot="0">
            <a:off x="12258700" y="1950000"/>
            <a:ext cx="5000000" cy="7500000"/>
          </a:xfrm>
          <a:prstGeom prst="rect">
            <a:avLst/>
          </a:prstGeom>
          <a:solidFill>
            <a:srgbClr val="FFF5F5"/>
          </a:solidFill>
          <a:ln w="15000">
            <a:solidFill>
              <a:srgbClr val="FEB2B2"/>
            </a:solidFill>
          </a:ln>
        </p:spPr>
        <p:txBody>
          <a:bodyPr anchor="t" rtlCol="false" tIns="252000" lIns="288000" bIns="252000" rIns="288000">
            <a:spAutoFit/>
          </a:bodyPr>
          <a:lstStyle/>
          <a:p>
            <a:pPr algn="l">
              <a:lnSpc>
                <a:spcPts val="2800"/>
              </a:lnSpc>
              <a:spcAft>
                <a:spcPts val="1600"/>
              </a:spcAft>
            </a:pPr>
            <a:r>
              <a:rPr lang="en-US" sz="2200" b="true" i="false">
                <a:solidFill>
                  <a:srgbClr val="9B2C2C"/>
                </a:solidFill>
                <a:latin typeface="Times New Roman"/>
                <a:ea typeface="Times New Roman"/>
                <a:cs typeface="Times New Roman"/>
                <a:sym typeface="Times New Roman"/>
              </a:rPr>
              <a:t>3. ANIMAL VECTORS &amp; CHOKING</a:t>
            </a:r>
          </a:p>
          <a:p>
            <a:pPr algn="just">
              <a:lnSpc>
                <a:spcPts val="2650"/>
              </a:lnSpc>
              <a:spcAft>
                <a:spcPts val="1400"/>
              </a:spcAft>
            </a:pPr>
            <a:r>
              <a:rPr lang="en-US" sz="1950" b="false" i="false">
                <a:solidFill>
                  <a:srgbClr val="2D3748"/>
                </a:solidFill>
                <a:latin typeface="Times New Roman"/>
                <a:ea typeface="Times New Roman"/>
                <a:cs typeface="Times New Roman"/>
                <a:sym typeface="Times New Roman"/>
              </a:rPr>
              <a:t>The moment a bin overflows, stray cattle and street dogs rip open plastic bags to reach food scraps, </a:t>
            </a:r>
            <a:r>
              <a:rPr lang="en-US" sz="1950" b="true" i="false">
                <a:solidFill>
                  <a:srgbClr val="9B2C2C"/>
                </a:solidFill>
                <a:latin typeface="Times New Roman"/>
                <a:ea typeface="Times New Roman"/>
                <a:cs typeface="Times New Roman"/>
                <a:sym typeface="Times New Roman"/>
              </a:rPr>
              <a:t>scattering waste across 50 meters </a:t>
            </a:r>
            <a:r>
              <a:rPr lang="en-US" sz="1950" b="false" i="false">
                <a:solidFill>
                  <a:srgbClr val="2D3748"/>
                </a:solidFill>
                <a:latin typeface="Times New Roman"/>
                <a:ea typeface="Times New Roman"/>
                <a:cs typeface="Times New Roman"/>
                <a:sym typeface="Times New Roman"/>
              </a:rPr>
              <a:t>of public roadways.</a:t>
            </a:r>
          </a:p>
          <a:p>
            <a:pPr algn="just">
              <a:lnSpc>
                <a:spcPts val="2650"/>
              </a:lnSpc>
              <a:spcAft>
                <a:spcPts val="1400"/>
              </a:spcAft>
            </a:pPr>
            <a:r>
              <a:rPr lang="en-US" sz="1950" b="true" i="false">
                <a:solidFill>
                  <a:srgbClr val="1A202C"/>
                </a:solidFill>
                <a:latin typeface="Times New Roman"/>
                <a:ea typeface="Times New Roman"/>
                <a:cs typeface="Times New Roman"/>
                <a:sym typeface="Times New Roman"/>
              </a:rPr>
              <a:t>This creates severe disease vectors (flies, cholera, dengue) </a:t>
            </a:r>
            <a:r>
              <a:rPr lang="en-US" sz="1950" b="false" i="false">
                <a:solidFill>
                  <a:srgbClr val="2D3748"/>
                </a:solidFill>
                <a:latin typeface="Times New Roman"/>
                <a:ea typeface="Times New Roman"/>
                <a:cs typeface="Times New Roman"/>
                <a:sym typeface="Times New Roman"/>
              </a:rPr>
              <a:t>and severe occupational health hazards for conservancy staff.</a:t>
            </a:r>
          </a:p>
          <a:p>
            <a:pPr algn="just">
              <a:lnSpc>
                <a:spcPts val="2650"/>
              </a:lnSpc>
            </a:pPr>
            <a:r>
              <a:rPr lang="en-US" sz="1950" b="false" i="false">
                <a:solidFill>
                  <a:srgbClr val="2D3748"/>
                </a:solidFill>
                <a:latin typeface="Times New Roman"/>
                <a:ea typeface="Times New Roman"/>
                <a:cs typeface="Times New Roman"/>
                <a:sym typeface="Times New Roman"/>
              </a:rPr>
              <a:t>During rains, uncompacted plastic is washed into </a:t>
            </a:r>
            <a:r>
              <a:rPr lang="en-US" sz="1950" b="true" i="false">
                <a:solidFill>
                  <a:srgbClr val="9B2C2C"/>
                </a:solidFill>
                <a:latin typeface="Times New Roman"/>
                <a:ea typeface="Times New Roman"/>
                <a:cs typeface="Times New Roman"/>
                <a:sym typeface="Times New Roman"/>
              </a:rPr>
              <a:t>open municipal storm drains (naalis), </a:t>
            </a:r>
            <a:r>
              <a:rPr lang="en-US" sz="1950" b="false" i="false">
                <a:solidFill>
                  <a:srgbClr val="2D3748"/>
                </a:solidFill>
                <a:latin typeface="Times New Roman"/>
                <a:ea typeface="Times New Roman"/>
                <a:cs typeface="Times New Roman"/>
                <a:sym typeface="Times New Roman"/>
              </a:rPr>
              <a:t>causing chronic drainage chokes and monsoon urban flooding.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Slide Title" id="201"/>
          <p:cNvSpPr txBox="true"/>
          <p:nvPr/>
        </p:nvSpPr>
        <p:spPr>
          <a:xfrm rot="0">
            <a:off x="1028700" y="450000"/>
            <a:ext cx="13500000" cy="850000"/>
          </a:xfrm>
          <a:prstGeom prst="rect">
            <a:avLst/>
          </a:prstGeom>
          <a:noFill/>
          <a:ln>
            <a:noFill/>
          </a:ln>
        </p:spPr>
        <p:txBody>
          <a:bodyPr anchor="t" rtlCol="false" tIns="72000" lIns="216000" bIns="72000" rIns="216000">
            <a:spAutoFit/>
          </a:bodyPr>
          <a:lstStyle/>
          <a:p>
            <a:pPr algn="l">
              <a:lnSpc>
                <a:spcPts val="3600"/>
              </a:lnSpc>
            </a:pPr>
            <a:r>
              <a:rPr lang="en-US" sz="3200" b="true" i="false">
                <a:solidFill>
                  <a:srgbClr val="1A202C"/>
                </a:solidFill>
                <a:latin typeface="Times New Roman"/>
                <a:ea typeface="Times New Roman"/>
                <a:cs typeface="Times New Roman"/>
                <a:sym typeface="Times New Roman"/>
              </a:rPr>
              <a:t>EXISTING SOLUTIONS &amp; COMPETITIVE BENCHMARK</a:t>
            </a:r>
          </a:p>
        </p:txBody>
      </p:sp>
      <p:sp>
        <p:nvSpPr>
          <p:cNvPr name="Rubric Badge" id="202"/>
          <p:cNvSpPr txBox="true"/>
          <p:nvPr/>
        </p:nvSpPr>
        <p:spPr>
          <a:xfrm rot="0">
            <a:off x="1028700" y="1250000"/>
            <a:ext cx="13500000" cy="550000"/>
          </a:xfrm>
          <a:prstGeom prst="rect">
            <a:avLst/>
          </a:prstGeom>
          <a:noFill/>
          <a:ln>
            <a:noFill/>
          </a:ln>
        </p:spPr>
        <p:txBody>
          <a:bodyPr anchor="t" rtlCol="false" tIns="72000" lIns="216000" bIns="72000" rIns="216000">
            <a:spAutoFit/>
          </a:bodyPr>
          <a:lstStyle/>
          <a:p>
            <a:pPr algn="l">
              <a:lnSpc>
                <a:spcPts val="2000"/>
              </a:lnSpc>
            </a:pPr>
            <a:r>
              <a:rPr lang="en-US" sz="1500" b="true" i="false">
                <a:solidFill>
                  <a:srgbClr val="2B6CB0"/>
                </a:solidFill>
                <a:latin typeface="Times New Roman"/>
                <a:ea typeface="Times New Roman"/>
                <a:cs typeface="Times New Roman"/>
                <a:sym typeface="Times New Roman"/>
              </a:rPr>
              <a:t>RUBRIC 2: THREE MARKET COMPETITORS, USER DISCOVERY &amp; UNIQUENESS [10 MARKS]</a:t>
            </a:r>
          </a:p>
        </p:txBody>
      </p:sp>
      <p:sp>
        <p:nvSpPr>
          <p:cNvPr name="Event Badge" id="203"/>
          <p:cNvSpPr txBox="true"/>
          <p:nvPr/>
        </p:nvSpPr>
        <p:spPr>
          <a:xfrm rot="0">
            <a:off x="14700000" y="450000"/>
            <a:ext cx="2559300" cy="1200000"/>
          </a:xfrm>
          <a:prstGeom prst="rect">
            <a:avLst/>
          </a:prstGeom>
          <a:solidFill>
            <a:srgbClr val="EDF2F7"/>
          </a:solidFill>
          <a:ln w="12700">
            <a:solidFill>
              <a:srgbClr val="CBD5E0"/>
            </a:solidFill>
          </a:ln>
        </p:spPr>
        <p:txBody>
          <a:bodyPr anchor="t" rtlCol="false" tIns="72000" lIns="216000" bIns="72000" rIns="216000">
            <a:spAutoFit/>
          </a:bodyPr>
          <a:lstStyle/>
          <a:p>
            <a:pPr algn="ctr">
              <a:lnSpc>
                <a:spcPts val="2000"/>
              </a:lnSpc>
            </a:pPr>
            <a:r>
              <a:rPr lang="en-US" sz="1400" b="true" i="false">
                <a:solidFill>
                  <a:srgbClr val="2D3748"/>
                </a:solidFill>
                <a:latin typeface="Times New Roman"/>
                <a:ea typeface="Times New Roman"/>
                <a:cs typeface="Times New Roman"/>
                <a:sym typeface="Times New Roman"/>
              </a:rPr>
              <a:t>EMERGE FOR GOOD</a:t>
            </a:r>
          </a:p>
          <a:p>
            <a:pPr algn="ctr">
              <a:lnSpc>
                <a:spcPts val="1800"/>
              </a:lnSpc>
            </a:pPr>
            <a:r>
              <a:rPr lang="en-US" sz="1200" b="false" i="false">
                <a:solidFill>
                  <a:srgbClr val="4A5568"/>
                </a:solidFill>
                <a:latin typeface="Times New Roman"/>
                <a:ea typeface="Times New Roman"/>
                <a:cs typeface="Times New Roman"/>
                <a:sym typeface="Times New Roman"/>
              </a:rPr>
              <a:t>TOP 50 FINALE | OCT 28</a:t>
            </a:r>
          </a:p>
          <a:p>
            <a:pPr algn="ctr">
              <a:lnSpc>
                <a:spcPts val="1800"/>
              </a:lnSpc>
            </a:pPr>
            <a:r>
              <a:rPr lang="en-US" sz="1300" b="true" i="false">
                <a:solidFill>
                  <a:srgbClr val="1B4D3E"/>
                </a:solidFill>
                <a:latin typeface="Times New Roman"/>
                <a:ea typeface="Times New Roman"/>
                <a:cs typeface="Times New Roman"/>
                <a:sym typeface="Times New Roman"/>
              </a:rPr>
              <a:t>TEAM: EFG-090</a:t>
            </a:r>
          </a:p>
        </p:txBody>
      </p:sp>
      <p:sp>
        <p:nvSpPr>
          <p:cNvPr name="Line 204" id="204"/>
          <p:cNvSpPr/>
          <p:nvPr/>
        </p:nvSpPr>
        <p:spPr>
          <a:xfrm>
            <a:off x="1028700" y="1780000"/>
            <a:ext cx="16230600" cy="0"/>
          </a:xfrm>
          <a:prstGeom prst="line">
            <a:avLst/>
          </a:prstGeom>
          <a:ln w="12700">
            <a:solidFill>
              <a:srgbClr val="CBD5E0"/>
            </a:solidFill>
          </a:ln>
        </p:spPr>
      </p:sp>
      <p:sp>
        <p:nvSpPr>
          <p:cNvPr name="Footer Info" id="205"/>
          <p:cNvSpPr txBox="true"/>
          <p:nvPr/>
        </p:nvSpPr>
        <p:spPr>
          <a:xfrm rot="0">
            <a:off x="1028700" y="9600000"/>
            <a:ext cx="16230600" cy="580000"/>
          </a:xfrm>
          <a:prstGeom prst="rect">
            <a:avLst/>
          </a:prstGeom>
          <a:noFill/>
          <a:ln>
            <a:noFill/>
          </a:ln>
        </p:spPr>
        <p:txBody>
          <a:bodyPr anchor="t" rtlCol="false" tIns="72000" lIns="216000" bIns="72000" rIns="216000">
            <a:spAutoFit/>
          </a:bodyPr>
          <a:lstStyle/>
          <a:p>
            <a:pPr algn="l">
              <a:lnSpc>
                <a:spcPts val="2000"/>
              </a:lnSpc>
            </a:pPr>
            <a:r>
              <a:rPr lang="en-US" sz="1300" b="false" i="false">
                <a:solidFill>
                  <a:srgbClr val="718096"/>
                </a:solidFill>
                <a:latin typeface="Times New Roman"/>
                <a:ea typeface="Times New Roman"/>
                <a:cs typeface="Times New Roman"/>
                <a:sym typeface="Times New Roman"/>
              </a:rPr>
              <a:t>IDLEBIN | Grand Finale Innovation Challenge, Pondicherry University  |  Swachh Bharat Mission (SBM-U 2.0) Aligned</a:t>
            </a:r>
            <a:r>
              <a:rPr lang="en-US" sz="1300" b="true" i="false">
                <a:solidFill>
                  <a:srgbClr val="4A5568"/>
                </a:solidFill>
                <a:latin typeface="Times New Roman"/>
                <a:ea typeface="Times New Roman"/>
                <a:cs typeface="Times New Roman"/>
                <a:sym typeface="Times New Roman"/>
              </a:rPr>
              <a:t>                Slide 3 of 8</a:t>
            </a:r>
          </a:p>
        </p:txBody>
      </p:sp>
      <p:sp>
        <p:nvSpPr>
          <p:cNvPr name="Comp 1" id="31"/>
          <p:cNvSpPr txBox="true"/>
          <p:nvPr/>
        </p:nvSpPr>
        <p:spPr>
          <a:xfrm rot="0">
            <a:off x="1028700" y="1950000"/>
            <a:ext cx="5000000" cy="4200000"/>
          </a:xfrm>
          <a:prstGeom prst="rect">
            <a:avLst/>
          </a:prstGeom>
          <a:solidFill>
            <a:srgbClr val="F7FAFC"/>
          </a:solidFill>
          <a:ln w="15000">
            <a:solidFill>
              <a:srgbClr val="CBD5E0"/>
            </a:solidFill>
          </a:ln>
        </p:spPr>
        <p:txBody>
          <a:bodyPr anchor="t" rtlCol="false" tIns="216000" lIns="252000" bIns="216000" rIns="252000">
            <a:spAutoFit/>
          </a:bodyPr>
          <a:lstStyle/>
          <a:p>
            <a:pPr algn="l">
              <a:lnSpc>
                <a:spcPts val="2700"/>
              </a:lnSpc>
              <a:spcAft>
                <a:spcPts val="600"/>
              </a:spcAft>
            </a:pPr>
            <a:r>
              <a:rPr lang="en-US" sz="2050" b="true" i="false">
                <a:solidFill>
                  <a:srgbClr val="2D3748"/>
                </a:solidFill>
                <a:latin typeface="Times New Roman"/>
                <a:ea typeface="Times New Roman"/>
                <a:cs typeface="Times New Roman"/>
                <a:sym typeface="Times New Roman"/>
              </a:rPr>
              <a:t>COMPETITOR 1: OPEN DUMPSTERS</a:t>
            </a:r>
          </a:p>
          <a:p>
            <a:pPr algn="l">
              <a:lnSpc>
                <a:spcPts val="2200"/>
              </a:lnSpc>
              <a:spcAft>
                <a:spcPts val="600"/>
              </a:spcAft>
            </a:pPr>
            <a:r>
              <a:rPr lang="en-US" sz="1650" b="false" i="true">
                <a:solidFill>
                  <a:srgbClr val="718096"/>
                </a:solidFill>
                <a:latin typeface="Times New Roman"/>
                <a:ea typeface="Times New Roman"/>
                <a:cs typeface="Times New Roman"/>
                <a:sym typeface="Times New Roman"/>
              </a:rPr>
              <a:t>Category: Standard Municipal Bins</a:t>
            </a:r>
          </a:p>
          <a:p>
            <a:pPr algn="l">
              <a:lnSpc>
                <a:spcPts val="2400"/>
              </a:lnSpc>
              <a:spcAft>
                <a:spcPts val="1000"/>
              </a:spcAft>
            </a:pPr>
            <a:r>
              <a:rPr lang="en-US" sz="1850" b="true" i="false">
                <a:solidFill>
                  <a:srgbClr val="2B6CB0"/>
                </a:solidFill>
                <a:latin typeface="Times New Roman"/>
                <a:ea typeface="Times New Roman"/>
                <a:cs typeface="Times New Roman"/>
                <a:sym typeface="Times New Roman"/>
              </a:rPr>
              <a:t>Cost: Rs. 3,000 – Rs. 4,500</a:t>
            </a:r>
          </a:p>
          <a:p>
            <a:pPr algn="just">
              <a:lnSpc>
                <a:spcPts val="2500"/>
              </a:lnSpc>
              <a:spcAft>
                <a:spcPts val="1000"/>
              </a:spcAft>
            </a:pPr>
            <a:r>
              <a:rPr lang="en-US" sz="1750" b="true" i="false">
                <a:solidFill>
                  <a:srgbClr val="2F855A"/>
                </a:solidFill>
                <a:latin typeface="Times New Roman"/>
                <a:ea typeface="Times New Roman"/>
                <a:cs typeface="Times New Roman"/>
                <a:sym typeface="Times New Roman"/>
              </a:rPr>
              <a:t>• Pros: </a:t>
            </a:r>
            <a:r>
              <a:rPr lang="en-US" sz="1750" b="false" i="false">
                <a:solidFill>
                  <a:srgbClr val="2D3748"/>
                </a:solidFill>
                <a:latin typeface="Times New Roman"/>
                <a:ea typeface="Times New Roman"/>
                <a:cs typeface="Times New Roman"/>
                <a:sym typeface="Times New Roman"/>
              </a:rPr>
              <a:t>Low upfront cost, robust steel/plastic body.</a:t>
            </a:r>
          </a:p>
          <a:p>
            <a:pPr algn="just">
              <a:lnSpc>
                <a:spcPts val="2500"/>
              </a:lnSpc>
            </a:pPr>
            <a:r>
              <a:rPr lang="en-US" sz="1750" b="true" i="false">
                <a:solidFill>
                  <a:srgbClr val="C53030"/>
                </a:solidFill>
                <a:latin typeface="Times New Roman"/>
                <a:ea typeface="Times New Roman"/>
                <a:cs typeface="Times New Roman"/>
                <a:sym typeface="Times New Roman"/>
              </a:rPr>
              <a:t>• Cons: </a:t>
            </a:r>
            <a:r>
              <a:rPr lang="en-US" sz="1750" b="false" i="false">
                <a:solidFill>
                  <a:srgbClr val="2D3748"/>
                </a:solidFill>
                <a:latin typeface="Times New Roman"/>
                <a:ea typeface="Times New Roman"/>
                <a:cs typeface="Times New Roman"/>
                <a:sym typeface="Times New Roman"/>
              </a:rPr>
              <a:t>Zero volume compaction; overflows in 2 hours; easily ransacked by stray cattle and dogs; creates roadside black spots.</a:t>
            </a:r>
          </a:p>
        </p:txBody>
      </p:sp>
      <p:sp>
        <p:nvSpPr>
          <p:cNvPr name="Comp 2" id="32"/>
          <p:cNvSpPr txBox="true"/>
          <p:nvPr/>
        </p:nvSpPr>
        <p:spPr>
          <a:xfrm rot="0">
            <a:off x="6643700" y="1950000"/>
            <a:ext cx="5000000" cy="4200000"/>
          </a:xfrm>
          <a:prstGeom prst="rect">
            <a:avLst/>
          </a:prstGeom>
          <a:solidFill>
            <a:srgbClr val="F7FAFC"/>
          </a:solidFill>
          <a:ln w="15000">
            <a:solidFill>
              <a:srgbClr val="CBD5E0"/>
            </a:solidFill>
          </a:ln>
        </p:spPr>
        <p:txBody>
          <a:bodyPr anchor="t" rtlCol="false" tIns="216000" lIns="252000" bIns="216000" rIns="252000">
            <a:spAutoFit/>
          </a:bodyPr>
          <a:lstStyle/>
          <a:p>
            <a:pPr algn="l">
              <a:lnSpc>
                <a:spcPts val="2700"/>
              </a:lnSpc>
              <a:spcAft>
                <a:spcPts val="600"/>
              </a:spcAft>
            </a:pPr>
            <a:r>
              <a:rPr lang="en-US" sz="2050" b="true" i="false">
                <a:solidFill>
                  <a:srgbClr val="2D3748"/>
                </a:solidFill>
                <a:latin typeface="Times New Roman"/>
                <a:ea typeface="Times New Roman"/>
                <a:cs typeface="Times New Roman"/>
                <a:sym typeface="Times New Roman"/>
              </a:rPr>
              <a:t>COMPETITOR 2: SOLAR SMART BINS</a:t>
            </a:r>
          </a:p>
          <a:p>
            <a:pPr algn="l">
              <a:lnSpc>
                <a:spcPts val="2200"/>
              </a:lnSpc>
              <a:spcAft>
                <a:spcPts val="600"/>
              </a:spcAft>
            </a:pPr>
            <a:r>
              <a:rPr lang="en-US" sz="1650" b="false" i="true">
                <a:solidFill>
                  <a:srgbClr val="718096"/>
                </a:solidFill>
                <a:latin typeface="Times New Roman"/>
                <a:ea typeface="Times New Roman"/>
                <a:cs typeface="Times New Roman"/>
                <a:sym typeface="Times New Roman"/>
              </a:rPr>
              <a:t>Category: Bigbelly / Ecube Labs</a:t>
            </a:r>
          </a:p>
          <a:p>
            <a:pPr algn="l">
              <a:lnSpc>
                <a:spcPts val="2400"/>
              </a:lnSpc>
              <a:spcAft>
                <a:spcPts val="1000"/>
              </a:spcAft>
            </a:pPr>
            <a:r>
              <a:rPr lang="en-US" sz="1850" b="true" i="false">
                <a:solidFill>
                  <a:srgbClr val="C53030"/>
                </a:solidFill>
                <a:latin typeface="Times New Roman"/>
                <a:ea typeface="Times New Roman"/>
                <a:cs typeface="Times New Roman"/>
                <a:sym typeface="Times New Roman"/>
              </a:rPr>
              <a:t>Cost: Rs. 3,50,000+ per unit</a:t>
            </a:r>
          </a:p>
          <a:p>
            <a:pPr algn="just">
              <a:lnSpc>
                <a:spcPts val="2500"/>
              </a:lnSpc>
              <a:spcAft>
                <a:spcPts val="1000"/>
              </a:spcAft>
            </a:pPr>
            <a:r>
              <a:rPr lang="en-US" sz="1750" b="true" i="false">
                <a:solidFill>
                  <a:srgbClr val="2F855A"/>
                </a:solidFill>
                <a:latin typeface="Times New Roman"/>
                <a:ea typeface="Times New Roman"/>
                <a:cs typeface="Times New Roman"/>
                <a:sym typeface="Times New Roman"/>
              </a:rPr>
              <a:t>• Pros: </a:t>
            </a:r>
            <a:r>
              <a:rPr lang="en-US" sz="1750" b="false" i="false">
                <a:solidFill>
                  <a:srgbClr val="2D3748"/>
                </a:solidFill>
                <a:latin typeface="Times New Roman"/>
                <a:ea typeface="Times New Roman"/>
                <a:cs typeface="Times New Roman"/>
                <a:sym typeface="Times New Roman"/>
              </a:rPr>
              <a:t>Motorized compaction, fill-level telemetry.</a:t>
            </a:r>
          </a:p>
          <a:p>
            <a:pPr algn="just">
              <a:lnSpc>
                <a:spcPts val="2500"/>
              </a:lnSpc>
            </a:pPr>
            <a:r>
              <a:rPr lang="en-US" sz="1750" b="true" i="false">
                <a:solidFill>
                  <a:srgbClr val="C53030"/>
                </a:solidFill>
                <a:latin typeface="Times New Roman"/>
                <a:ea typeface="Times New Roman"/>
                <a:cs typeface="Times New Roman"/>
                <a:sym typeface="Times New Roman"/>
              </a:rPr>
              <a:t>• Cons: </a:t>
            </a:r>
            <a:r>
              <a:rPr lang="en-US" sz="1750" b="false" i="false">
                <a:solidFill>
                  <a:srgbClr val="2D3748"/>
                </a:solidFill>
                <a:latin typeface="Times New Roman"/>
                <a:ea typeface="Times New Roman"/>
                <a:cs typeface="Times New Roman"/>
                <a:sym typeface="Times New Roman"/>
              </a:rPr>
              <a:t>Prohibitive cost for Indian municipalities; ultrasonic sensors cake in road grime; motors and lithium batteries fail in summer heat.</a:t>
            </a:r>
          </a:p>
        </p:txBody>
      </p:sp>
      <p:sp>
        <p:nvSpPr>
          <p:cNvPr name="Comp 3" id="33"/>
          <p:cNvSpPr txBox="true"/>
          <p:nvPr/>
        </p:nvSpPr>
        <p:spPr>
          <a:xfrm rot="0">
            <a:off x="12258700" y="1950000"/>
            <a:ext cx="5000000" cy="4200000"/>
          </a:xfrm>
          <a:prstGeom prst="rect">
            <a:avLst/>
          </a:prstGeom>
          <a:solidFill>
            <a:srgbClr val="F7FAFC"/>
          </a:solidFill>
          <a:ln w="15000">
            <a:solidFill>
              <a:srgbClr val="CBD5E0"/>
            </a:solidFill>
          </a:ln>
        </p:spPr>
        <p:txBody>
          <a:bodyPr anchor="t" rtlCol="false" tIns="216000" lIns="252000" bIns="216000" rIns="252000">
            <a:spAutoFit/>
          </a:bodyPr>
          <a:lstStyle/>
          <a:p>
            <a:pPr algn="l">
              <a:lnSpc>
                <a:spcPts val="2700"/>
              </a:lnSpc>
              <a:spcAft>
                <a:spcPts val="600"/>
              </a:spcAft>
            </a:pPr>
            <a:r>
              <a:rPr lang="en-US" sz="2050" b="true" i="false">
                <a:solidFill>
                  <a:srgbClr val="2D3748"/>
                </a:solidFill>
                <a:latin typeface="Times New Roman"/>
                <a:ea typeface="Times New Roman"/>
                <a:cs typeface="Times New Roman"/>
                <a:sym typeface="Times New Roman"/>
              </a:rPr>
              <a:t>COMPETITOR 3: REVERSE VENDORS</a:t>
            </a:r>
          </a:p>
          <a:p>
            <a:pPr algn="l">
              <a:lnSpc>
                <a:spcPts val="2200"/>
              </a:lnSpc>
              <a:spcAft>
                <a:spcPts val="600"/>
              </a:spcAft>
            </a:pPr>
            <a:r>
              <a:rPr lang="en-US" sz="1650" b="false" i="true">
                <a:solidFill>
                  <a:srgbClr val="718096"/>
                </a:solidFill>
                <a:latin typeface="Times New Roman"/>
                <a:ea typeface="Times New Roman"/>
                <a:cs typeface="Times New Roman"/>
                <a:sym typeface="Times New Roman"/>
              </a:rPr>
              <a:t>Category: Biocrux / Zeleno RVMs</a:t>
            </a:r>
          </a:p>
          <a:p>
            <a:pPr algn="l">
              <a:lnSpc>
                <a:spcPts val="2400"/>
              </a:lnSpc>
              <a:spcAft>
                <a:spcPts val="1000"/>
              </a:spcAft>
            </a:pPr>
            <a:r>
              <a:rPr lang="en-US" sz="1850" b="true" i="false">
                <a:solidFill>
                  <a:srgbClr val="C53030"/>
                </a:solidFill>
                <a:latin typeface="Times New Roman"/>
                <a:ea typeface="Times New Roman"/>
                <a:cs typeface="Times New Roman"/>
                <a:sym typeface="Times New Roman"/>
              </a:rPr>
              <a:t>Cost: Rs. 2,00,000 – Rs. 5,00,000</a:t>
            </a:r>
          </a:p>
          <a:p>
            <a:pPr algn="just">
              <a:lnSpc>
                <a:spcPts val="2500"/>
              </a:lnSpc>
              <a:spcAft>
                <a:spcPts val="1000"/>
              </a:spcAft>
            </a:pPr>
            <a:r>
              <a:rPr lang="en-US" sz="1750" b="true" i="false">
                <a:solidFill>
                  <a:srgbClr val="2F855A"/>
                </a:solidFill>
                <a:latin typeface="Times New Roman"/>
                <a:ea typeface="Times New Roman"/>
                <a:cs typeface="Times New Roman"/>
                <a:sym typeface="Times New Roman"/>
              </a:rPr>
              <a:t>• Pros: </a:t>
            </a:r>
            <a:r>
              <a:rPr lang="en-US" sz="1750" b="false" i="false">
                <a:solidFill>
                  <a:srgbClr val="2D3748"/>
                </a:solidFill>
                <a:latin typeface="Times New Roman"/>
                <a:ea typeface="Times New Roman"/>
                <a:cs typeface="Times New Roman"/>
                <a:sym typeface="Times New Roman"/>
              </a:rPr>
              <a:t>Shreds clean PET bottles, rewards users.</a:t>
            </a:r>
          </a:p>
          <a:p>
            <a:pPr algn="just">
              <a:lnSpc>
                <a:spcPts val="2500"/>
              </a:lnSpc>
            </a:pPr>
            <a:r>
              <a:rPr lang="en-US" sz="1750" b="true" i="false">
                <a:solidFill>
                  <a:srgbClr val="C53030"/>
                </a:solidFill>
                <a:latin typeface="Times New Roman"/>
                <a:ea typeface="Times New Roman"/>
                <a:cs typeface="Times New Roman"/>
                <a:sym typeface="Times New Roman"/>
              </a:rPr>
              <a:t>• Cons: </a:t>
            </a:r>
            <a:r>
              <a:rPr lang="en-US" sz="1750" b="false" i="false">
                <a:solidFill>
                  <a:srgbClr val="2D3748"/>
                </a:solidFill>
                <a:latin typeface="Times New Roman"/>
                <a:ea typeface="Times New Roman"/>
                <a:cs typeface="Times New Roman"/>
                <a:sym typeface="Times New Roman"/>
              </a:rPr>
              <a:t>Restricted to indoor air-conditioned malls; high continuous grid power requirement; rejects crushed, dented, or unlabeled bottles.</a:t>
            </a:r>
          </a:p>
        </p:txBody>
      </p:sp>
      <p:sp>
        <p:nvSpPr>
          <p:cNvPr name="Discovery &amp; Uniqueness" id="34"/>
          <p:cNvSpPr txBox="true"/>
          <p:nvPr/>
        </p:nvSpPr>
        <p:spPr>
          <a:xfrm rot="0">
            <a:off x="1028700" y="6400000"/>
            <a:ext cx="16230600" cy="3050000"/>
          </a:xfrm>
          <a:prstGeom prst="rect">
            <a:avLst/>
          </a:prstGeom>
          <a:solidFill>
            <a:srgbClr val="EDF2F7"/>
          </a:solidFill>
          <a:ln w="15000">
            <a:solidFill>
              <a:srgbClr val="CBD5E0"/>
            </a:solidFill>
          </a:ln>
        </p:spPr>
        <p:txBody>
          <a:bodyPr anchor="t" rtlCol="false" tIns="216000" lIns="288000" bIns="216000" rIns="288000">
            <a:spAutoFit/>
          </a:bodyPr>
          <a:lstStyle/>
          <a:p>
            <a:pPr algn="l">
              <a:lnSpc>
                <a:spcPts val="2800"/>
              </a:lnSpc>
              <a:spcAft>
                <a:spcPts val="1200"/>
              </a:spcAft>
            </a:pPr>
            <a:r>
              <a:rPr lang="en-US" sz="2200" b="true" i="false">
                <a:solidFill>
                  <a:srgbClr val="1B4D3E"/>
                </a:solidFill>
                <a:latin typeface="Times New Roman"/>
                <a:ea typeface="Times New Roman"/>
                <a:cs typeface="Times New Roman"/>
                <a:sym typeface="Times New Roman"/>
              </a:rPr>
              <a:t>GROUND TRUTH CUSTOMER DISCOVERY &amp; IDLEBIN UNIQUENESS</a:t>
            </a:r>
          </a:p>
          <a:p>
            <a:pPr algn="just">
              <a:lnSpc>
                <a:spcPts val="2600"/>
              </a:lnSpc>
              <a:spcAft>
                <a:spcPts val="1200"/>
              </a:spcAft>
            </a:pPr>
            <a:r>
              <a:rPr lang="en-US" sz="1850" b="true" i="false">
                <a:solidFill>
                  <a:srgbClr val="2D3748"/>
                </a:solidFill>
                <a:latin typeface="Times New Roman"/>
                <a:ea typeface="Times New Roman"/>
                <a:cs typeface="Times New Roman"/>
                <a:sym typeface="Times New Roman"/>
              </a:rPr>
              <a:t>• Field Interviews Conducted: </a:t>
            </a:r>
            <a:r>
              <a:rPr lang="en-US" sz="1850" b="false" i="false">
                <a:solidFill>
                  <a:srgbClr val="2D3748"/>
                </a:solidFill>
                <a:latin typeface="Times New Roman"/>
                <a:ea typeface="Times New Roman"/>
                <a:cs typeface="Times New Roman"/>
                <a:sym typeface="Times New Roman"/>
              </a:rPr>
              <a:t>We interviewed local municipal sanitation workers (Safai Karamcharis), tea stall vendors, and residents in Chennai and Puducherry. Workers confirmed that shoveling scattered street garbage consumes 70% of their daily time; lifting compacted, clean bags saves hours and prevents glass punctures.</a:t>
            </a:r>
          </a:p>
          <a:p>
            <a:pPr algn="just">
              <a:lnSpc>
                <a:spcPts val="2600"/>
              </a:lnSpc>
            </a:pPr>
            <a:r>
              <a:rPr lang="en-US" sz="1850" b="true" i="false">
                <a:solidFill>
                  <a:srgbClr val="1B4D3E"/>
                </a:solidFill>
                <a:latin typeface="Times New Roman"/>
                <a:ea typeface="Times New Roman"/>
                <a:cs typeface="Times New Roman"/>
                <a:sym typeface="Times New Roman"/>
              </a:rPr>
              <a:t>• Why IdleBin is Completely Unique: </a:t>
            </a:r>
            <a:r>
              <a:rPr lang="en-US" sz="1850" b="false" i="false">
                <a:solidFill>
                  <a:srgbClr val="2D3748"/>
                </a:solidFill>
                <a:latin typeface="Times New Roman"/>
                <a:ea typeface="Times New Roman"/>
                <a:cs typeface="Times New Roman"/>
                <a:sym typeface="Times New Roman"/>
              </a:rPr>
              <a:t>IdleBin is the only 100% mechanical, zero-power compacting bin engineered specifically for Indian street conditions. At Rs. 680 build cost, it achieves 4x plastic volume reduction using human footstep energy alone, with zero electronics, zero maintenance complexity, and total animal resistance.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Slide Title" id="201"/>
          <p:cNvSpPr txBox="true"/>
          <p:nvPr/>
        </p:nvSpPr>
        <p:spPr>
          <a:xfrm rot="0">
            <a:off x="1028700" y="450000"/>
            <a:ext cx="13500000" cy="850000"/>
          </a:xfrm>
          <a:prstGeom prst="rect">
            <a:avLst/>
          </a:prstGeom>
          <a:noFill/>
          <a:ln>
            <a:noFill/>
          </a:ln>
        </p:spPr>
        <p:txBody>
          <a:bodyPr anchor="t" rtlCol="false" tIns="72000" lIns="216000" bIns="72000" rIns="216000">
            <a:spAutoFit/>
          </a:bodyPr>
          <a:lstStyle/>
          <a:p>
            <a:pPr algn="l">
              <a:lnSpc>
                <a:spcPts val="3600"/>
              </a:lnSpc>
            </a:pPr>
            <a:r>
              <a:rPr lang="en-US" sz="3200" b="true" i="false">
                <a:solidFill>
                  <a:srgbClr val="1A202C"/>
                </a:solidFill>
                <a:latin typeface="Times New Roman"/>
                <a:ea typeface="Times New Roman"/>
                <a:cs typeface="Times New Roman"/>
                <a:sym typeface="Times New Roman"/>
              </a:rPr>
              <a:t>OUR SOLUTION: IDLEBIN MECHANICAL INNOVATION</a:t>
            </a:r>
          </a:p>
        </p:txBody>
      </p:sp>
      <p:sp>
        <p:nvSpPr>
          <p:cNvPr name="Rubric Badge" id="202"/>
          <p:cNvSpPr txBox="true"/>
          <p:nvPr/>
        </p:nvSpPr>
        <p:spPr>
          <a:xfrm rot="0">
            <a:off x="1028700" y="1250000"/>
            <a:ext cx="13500000" cy="550000"/>
          </a:xfrm>
          <a:prstGeom prst="rect">
            <a:avLst/>
          </a:prstGeom>
          <a:noFill/>
          <a:ln>
            <a:noFill/>
          </a:ln>
        </p:spPr>
        <p:txBody>
          <a:bodyPr anchor="t" rtlCol="false" tIns="72000" lIns="216000" bIns="72000" rIns="216000">
            <a:spAutoFit/>
          </a:bodyPr>
          <a:lstStyle/>
          <a:p>
            <a:pPr algn="l">
              <a:lnSpc>
                <a:spcPts val="2000"/>
              </a:lnSpc>
            </a:pPr>
            <a:r>
              <a:rPr lang="en-US" sz="1500" b="true" i="false">
                <a:solidFill>
                  <a:srgbClr val="2B6CB0"/>
                </a:solidFill>
                <a:latin typeface="Times New Roman"/>
                <a:ea typeface="Times New Roman"/>
                <a:cs typeface="Times New Roman"/>
                <a:sym typeface="Times New Roman"/>
              </a:rPr>
              <a:t>RUBRIC 3: ZERO-ELECTRICITY FOOT-COMPACTION ARCHITECTURE [10 MARKS]</a:t>
            </a:r>
          </a:p>
        </p:txBody>
      </p:sp>
      <p:sp>
        <p:nvSpPr>
          <p:cNvPr name="Event Badge" id="203"/>
          <p:cNvSpPr txBox="true"/>
          <p:nvPr/>
        </p:nvSpPr>
        <p:spPr>
          <a:xfrm rot="0">
            <a:off x="14700000" y="450000"/>
            <a:ext cx="2559300" cy="1200000"/>
          </a:xfrm>
          <a:prstGeom prst="rect">
            <a:avLst/>
          </a:prstGeom>
          <a:solidFill>
            <a:srgbClr val="EDF2F7"/>
          </a:solidFill>
          <a:ln w="12700">
            <a:solidFill>
              <a:srgbClr val="CBD5E0"/>
            </a:solidFill>
          </a:ln>
        </p:spPr>
        <p:txBody>
          <a:bodyPr anchor="t" rtlCol="false" tIns="72000" lIns="216000" bIns="72000" rIns="216000">
            <a:spAutoFit/>
          </a:bodyPr>
          <a:lstStyle/>
          <a:p>
            <a:pPr algn="ctr">
              <a:lnSpc>
                <a:spcPts val="2000"/>
              </a:lnSpc>
            </a:pPr>
            <a:r>
              <a:rPr lang="en-US" sz="1400" b="true" i="false">
                <a:solidFill>
                  <a:srgbClr val="2D3748"/>
                </a:solidFill>
                <a:latin typeface="Times New Roman"/>
                <a:ea typeface="Times New Roman"/>
                <a:cs typeface="Times New Roman"/>
                <a:sym typeface="Times New Roman"/>
              </a:rPr>
              <a:t>EMERGE FOR GOOD</a:t>
            </a:r>
          </a:p>
          <a:p>
            <a:pPr algn="ctr">
              <a:lnSpc>
                <a:spcPts val="1800"/>
              </a:lnSpc>
            </a:pPr>
            <a:r>
              <a:rPr lang="en-US" sz="1200" b="false" i="false">
                <a:solidFill>
                  <a:srgbClr val="4A5568"/>
                </a:solidFill>
                <a:latin typeface="Times New Roman"/>
                <a:ea typeface="Times New Roman"/>
                <a:cs typeface="Times New Roman"/>
                <a:sym typeface="Times New Roman"/>
              </a:rPr>
              <a:t>TOP 50 FINALE | OCT 28</a:t>
            </a:r>
          </a:p>
          <a:p>
            <a:pPr algn="ctr">
              <a:lnSpc>
                <a:spcPts val="1800"/>
              </a:lnSpc>
            </a:pPr>
            <a:r>
              <a:rPr lang="en-US" sz="1300" b="true" i="false">
                <a:solidFill>
                  <a:srgbClr val="1B4D3E"/>
                </a:solidFill>
                <a:latin typeface="Times New Roman"/>
                <a:ea typeface="Times New Roman"/>
                <a:cs typeface="Times New Roman"/>
                <a:sym typeface="Times New Roman"/>
              </a:rPr>
              <a:t>TEAM: EFG-090</a:t>
            </a:r>
          </a:p>
        </p:txBody>
      </p:sp>
      <p:sp>
        <p:nvSpPr>
          <p:cNvPr name="Line 204" id="204"/>
          <p:cNvSpPr/>
          <p:nvPr/>
        </p:nvSpPr>
        <p:spPr>
          <a:xfrm>
            <a:off x="1028700" y="1780000"/>
            <a:ext cx="16230600" cy="0"/>
          </a:xfrm>
          <a:prstGeom prst="line">
            <a:avLst/>
          </a:prstGeom>
          <a:ln w="12700">
            <a:solidFill>
              <a:srgbClr val="CBD5E0"/>
            </a:solidFill>
          </a:ln>
        </p:spPr>
      </p:sp>
      <p:sp>
        <p:nvSpPr>
          <p:cNvPr name="Footer Info" id="205"/>
          <p:cNvSpPr txBox="true"/>
          <p:nvPr/>
        </p:nvSpPr>
        <p:spPr>
          <a:xfrm rot="0">
            <a:off x="1028700" y="9600000"/>
            <a:ext cx="16230600" cy="580000"/>
          </a:xfrm>
          <a:prstGeom prst="rect">
            <a:avLst/>
          </a:prstGeom>
          <a:noFill/>
          <a:ln>
            <a:noFill/>
          </a:ln>
        </p:spPr>
        <p:txBody>
          <a:bodyPr anchor="t" rtlCol="false" tIns="72000" lIns="216000" bIns="72000" rIns="216000">
            <a:spAutoFit/>
          </a:bodyPr>
          <a:lstStyle/>
          <a:p>
            <a:pPr algn="l">
              <a:lnSpc>
                <a:spcPts val="2000"/>
              </a:lnSpc>
            </a:pPr>
            <a:r>
              <a:rPr lang="en-US" sz="1300" b="false" i="false">
                <a:solidFill>
                  <a:srgbClr val="718096"/>
                </a:solidFill>
                <a:latin typeface="Times New Roman"/>
                <a:ea typeface="Times New Roman"/>
                <a:cs typeface="Times New Roman"/>
                <a:sym typeface="Times New Roman"/>
              </a:rPr>
              <a:t>IDLEBIN | Grand Finale Innovation Challenge, Pondicherry University  |  Swachh Bharat Mission (SBM-U 2.0) Aligned</a:t>
            </a:r>
            <a:r>
              <a:rPr lang="en-US" sz="1300" b="true" i="false">
                <a:solidFill>
                  <a:srgbClr val="4A5568"/>
                </a:solidFill>
                <a:latin typeface="Times New Roman"/>
                <a:ea typeface="Times New Roman"/>
                <a:cs typeface="Times New Roman"/>
                <a:sym typeface="Times New Roman"/>
              </a:rPr>
              <a:t>                Slide 4 of 8</a:t>
            </a:r>
          </a:p>
        </p:txBody>
      </p:sp>
      <p:sp>
        <p:nvSpPr>
          <p:cNvPr name="Mechanical Flow Card" id="41"/>
          <p:cNvSpPr txBox="true"/>
          <p:nvPr/>
        </p:nvSpPr>
        <p:spPr>
          <a:xfrm rot="0">
            <a:off x="1028700" y="1950000"/>
            <a:ext cx="8600000" cy="7500000"/>
          </a:xfrm>
          <a:prstGeom prst="rect">
            <a:avLst/>
          </a:prstGeom>
          <a:solidFill>
            <a:srgbClr val="F7FAFC"/>
          </a:solidFill>
          <a:ln w="15000">
            <a:solidFill>
              <a:srgbClr val="CBD5E0"/>
            </a:solidFill>
          </a:ln>
        </p:spPr>
        <p:txBody>
          <a:bodyPr anchor="t" rtlCol="false" tIns="216000" lIns="288000" bIns="216000" rIns="288000">
            <a:spAutoFit/>
          </a:bodyPr>
          <a:lstStyle/>
          <a:p>
            <a:pPr algn="l">
              <a:lnSpc>
                <a:spcPts val="3000"/>
              </a:lnSpc>
              <a:spcAft>
                <a:spcPts val="1600"/>
              </a:spcAft>
            </a:pPr>
            <a:r>
              <a:rPr lang="en-US" sz="2200" b="true" i="false">
                <a:solidFill>
                  <a:srgbClr val="1B4D3E"/>
                </a:solidFill>
                <a:latin typeface="Times New Roman"/>
                <a:ea typeface="Times New Roman"/>
                <a:cs typeface="Times New Roman"/>
                <a:sym typeface="Times New Roman"/>
              </a:rPr>
              <a:t>THE 5-STEP MECHANICAL COMPACTION CYCLE</a:t>
            </a:r>
          </a:p>
          <a:p>
            <a:pPr algn="just">
              <a:lnSpc>
                <a:spcPts val="2550"/>
              </a:lnSpc>
              <a:spcAft>
                <a:spcPts val="1100"/>
              </a:spcAft>
            </a:pPr>
            <a:r>
              <a:rPr lang="en-US" sz="1900" b="true" i="false">
                <a:solidFill>
                  <a:srgbClr val="2B6CB0"/>
                </a:solidFill>
                <a:latin typeface="Times New Roman"/>
                <a:ea typeface="Times New Roman"/>
                <a:cs typeface="Times New Roman"/>
                <a:sym typeface="Times New Roman"/>
              </a:rPr>
              <a:t>1. Touchless Foot Pedal: </a:t>
            </a:r>
            <a:r>
              <a:rPr lang="en-US" sz="1900" b="false" i="false">
                <a:solidFill>
                  <a:srgbClr val="2D3748"/>
                </a:solidFill>
                <a:latin typeface="Times New Roman"/>
                <a:ea typeface="Times New Roman"/>
                <a:cs typeface="Times New Roman"/>
                <a:sym typeface="Times New Roman"/>
              </a:rPr>
              <a:t>The user steps on a base-level foot pedal. This motion unlatches the top lid automatically, ensuring zero hand contact and eliminating the disgust barrier.</a:t>
            </a:r>
          </a:p>
          <a:p>
            <a:pPr algn="just">
              <a:lnSpc>
                <a:spcPts val="2550"/>
              </a:lnSpc>
              <a:spcAft>
                <a:spcPts val="1100"/>
              </a:spcAft>
            </a:pPr>
            <a:r>
              <a:rPr lang="en-US" sz="1900" b="true" i="false">
                <a:solidFill>
                  <a:srgbClr val="2B6CB0"/>
                </a:solidFill>
                <a:latin typeface="Times New Roman"/>
                <a:ea typeface="Times New Roman"/>
                <a:cs typeface="Times New Roman"/>
                <a:sym typeface="Times New Roman"/>
              </a:rPr>
              <a:t>2. Class-1 Lever Force Transfer: </a:t>
            </a:r>
            <a:r>
              <a:rPr lang="en-US" sz="1900" b="false" i="false">
                <a:solidFill>
                  <a:srgbClr val="2D3748"/>
                </a:solidFill>
                <a:latin typeface="Times New Roman"/>
                <a:ea typeface="Times New Roman"/>
                <a:cs typeface="Times New Roman"/>
                <a:sym typeface="Times New Roman"/>
              </a:rPr>
              <a:t>A vertical 1/2-inch mild steel pushrod transmits user body weight (~40 kg) directly to an overhead lever arm with a 1.8x mechanical force advantage.</a:t>
            </a:r>
          </a:p>
          <a:p>
            <a:pPr algn="just">
              <a:lnSpc>
                <a:spcPts val="2550"/>
              </a:lnSpc>
              <a:spcAft>
                <a:spcPts val="1100"/>
              </a:spcAft>
            </a:pPr>
            <a:r>
              <a:rPr lang="en-US" sz="1900" b="true" i="false">
                <a:solidFill>
                  <a:srgbClr val="2B6CB0"/>
                </a:solidFill>
                <a:latin typeface="Times New Roman"/>
                <a:ea typeface="Times New Roman"/>
                <a:cs typeface="Times New Roman"/>
                <a:sym typeface="Times New Roman"/>
              </a:rPr>
              <a:t>3. 600N Downward Compaction: </a:t>
            </a:r>
            <a:r>
              <a:rPr lang="en-US" sz="1900" b="false" i="false">
                <a:solidFill>
                  <a:srgbClr val="2D3748"/>
                </a:solidFill>
                <a:latin typeface="Times New Roman"/>
                <a:ea typeface="Times New Roman"/>
                <a:cs typeface="Times New Roman"/>
                <a:sym typeface="Times New Roman"/>
              </a:rPr>
              <a:t>A perforated 8mm circular platen drives downward like a piston, crushing PET bottles and snack wrappers flat under 600+ Newtons of force.</a:t>
            </a:r>
          </a:p>
          <a:p>
            <a:pPr algn="just">
              <a:lnSpc>
                <a:spcPts val="2550"/>
              </a:lnSpc>
              <a:spcAft>
                <a:spcPts val="1100"/>
              </a:spcAft>
            </a:pPr>
            <a:r>
              <a:rPr lang="en-US" sz="1900" b="true" i="false">
                <a:solidFill>
                  <a:srgbClr val="2B6CB0"/>
                </a:solidFill>
                <a:latin typeface="Times New Roman"/>
                <a:ea typeface="Times New Roman"/>
                <a:cs typeface="Times New Roman"/>
                <a:sym typeface="Times New Roman"/>
              </a:rPr>
              <a:t>4. One-Way Anti-Bounce Retention: </a:t>
            </a:r>
            <a:r>
              <a:rPr lang="en-US" sz="1900" b="false" i="false">
                <a:solidFill>
                  <a:srgbClr val="2D3748"/>
                </a:solidFill>
                <a:latin typeface="Times New Roman"/>
                <a:ea typeface="Times New Roman"/>
                <a:cs typeface="Times New Roman"/>
                <a:sym typeface="Times New Roman"/>
              </a:rPr>
              <a:t>Downward-angled internal perimeter baffles allow bottles to pass downward freely but lock them down when the plate lifts, preventing plastic spring-back.</a:t>
            </a:r>
          </a:p>
          <a:p>
            <a:pPr algn="just">
              <a:lnSpc>
                <a:spcPts val="2550"/>
              </a:lnSpc>
            </a:pPr>
            <a:r>
              <a:rPr lang="en-US" sz="1900" b="true" i="false">
                <a:solidFill>
                  <a:srgbClr val="2B6CB0"/>
                </a:solidFill>
                <a:latin typeface="Times New Roman"/>
                <a:ea typeface="Times New Roman"/>
                <a:cs typeface="Times New Roman"/>
                <a:sym typeface="Times New Roman"/>
              </a:rPr>
              <a:t>5. Dual Spring Recoil &amp; Reset: </a:t>
            </a:r>
            <a:r>
              <a:rPr lang="en-US" sz="1900" b="false" i="false">
                <a:solidFill>
                  <a:srgbClr val="2D3748"/>
                </a:solidFill>
                <a:latin typeface="Times New Roman"/>
                <a:ea typeface="Times New Roman"/>
                <a:cs typeface="Times New Roman"/>
                <a:sym typeface="Times New Roman"/>
              </a:rPr>
              <a:t>When the user lifts their foot, heavy-duty helical tension springs pull the plate back to resting position in under 1.5 seconds, ready for the next user.</a:t>
            </a:r>
          </a:p>
        </p:txBody>
      </p:sp>
      <p:sp>
        <p:nvSpPr>
          <p:cNvPr name="Design Guardrails Card" id="42"/>
          <p:cNvSpPr txBox="true"/>
          <p:nvPr/>
        </p:nvSpPr>
        <p:spPr>
          <a:xfrm rot="0">
            <a:off x="9900000" y="1950000"/>
            <a:ext cx="7359300" cy="7500000"/>
          </a:xfrm>
          <a:prstGeom prst="rect">
            <a:avLst/>
          </a:prstGeom>
          <a:solidFill>
            <a:srgbClr val="F7FAFC"/>
          </a:solidFill>
          <a:ln w="15000">
            <a:solidFill>
              <a:srgbClr val="CBD5E0"/>
            </a:solidFill>
          </a:ln>
        </p:spPr>
        <p:txBody>
          <a:bodyPr anchor="t" rtlCol="false" tIns="216000" lIns="288000" bIns="216000" rIns="288000">
            <a:spAutoFit/>
          </a:bodyPr>
          <a:lstStyle/>
          <a:p>
            <a:pPr algn="l">
              <a:lnSpc>
                <a:spcPts val="3000"/>
              </a:lnSpc>
              <a:spcAft>
                <a:spcPts val="1800"/>
              </a:spcAft>
            </a:pPr>
            <a:r>
              <a:rPr lang="en-US" sz="2200" b="true" i="false">
                <a:solidFill>
                  <a:srgbClr val="1B4D3E"/>
                </a:solidFill>
                <a:latin typeface="Times New Roman"/>
                <a:ea typeface="Times New Roman"/>
                <a:cs typeface="Times New Roman"/>
                <a:sym typeface="Times New Roman"/>
              </a:rPr>
              <a:t>CRITICAL ENGINEERING GUARDRAILS</a:t>
            </a:r>
          </a:p>
          <a:p>
            <a:pPr algn="just">
              <a:lnSpc>
                <a:spcPts val="2650"/>
              </a:lnSpc>
              <a:spcAft>
                <a:spcPts val="1800"/>
              </a:spcAft>
            </a:pPr>
            <a:r>
              <a:rPr lang="en-US" sz="1950" b="true" i="false">
                <a:solidFill>
                  <a:srgbClr val="2D3748"/>
                </a:solidFill>
                <a:latin typeface="Times New Roman"/>
                <a:ea typeface="Times New Roman"/>
                <a:cs typeface="Times New Roman"/>
                <a:sym typeface="Times New Roman"/>
              </a:rPr>
              <a:t>• Strictly For Blue (Dry) Recyclable Bins: </a:t>
            </a:r>
            <a:r>
              <a:rPr lang="en-US" sz="1950" b="false" i="false">
                <a:solidFill>
                  <a:srgbClr val="2D3748"/>
                </a:solidFill>
                <a:latin typeface="Times New Roman"/>
                <a:ea typeface="Times New Roman"/>
                <a:cs typeface="Times New Roman"/>
                <a:sym typeface="Times New Roman"/>
              </a:rPr>
              <a:t>Under Swachh Bharat pairing rules (Green = Wet Food, Blue = Dry Packaging), IdleBin is deployed exclusively for Blue Bins. Wet waste is dense food scraps; it is uncrushed dry plastic that causes 90% of street overflow.</a:t>
            </a:r>
          </a:p>
          <a:p>
            <a:pPr algn="just">
              <a:lnSpc>
                <a:spcPts val="2650"/>
              </a:lnSpc>
              <a:spcAft>
                <a:spcPts val="1800"/>
              </a:spcAft>
            </a:pPr>
            <a:r>
              <a:rPr lang="en-US" sz="1950" b="true" i="false">
                <a:solidFill>
                  <a:srgbClr val="2D3748"/>
                </a:solidFill>
                <a:latin typeface="Times New Roman"/>
                <a:ea typeface="Times New Roman"/>
                <a:cs typeface="Times New Roman"/>
                <a:sym typeface="Times New Roman"/>
              </a:rPr>
              <a:t>• Accidental Liquid Drainage &amp; Odor Bio-Filter: </a:t>
            </a:r>
            <a:r>
              <a:rPr lang="en-US" sz="1950" b="false" i="false">
                <a:solidFill>
                  <a:srgbClr val="2D3748"/>
                </a:solidFill>
                <a:latin typeface="Times New Roman"/>
                <a:ea typeface="Times New Roman"/>
                <a:cs typeface="Times New Roman"/>
                <a:sym typeface="Times New Roman"/>
              </a:rPr>
              <a:t>If tea or soft drink residue is accidentally thrown inside, perforated drainage holes allow liquid to pass into a sealed false-bottom tray containing activated coconut charcoal and dry sawdust, neutralizing odor naturally.</a:t>
            </a:r>
          </a:p>
          <a:p>
            <a:pPr algn="just">
              <a:lnSpc>
                <a:spcPts val="2650"/>
              </a:lnSpc>
            </a:pPr>
            <a:r>
              <a:rPr lang="en-US" sz="1950" b="true" i="false">
                <a:solidFill>
                  <a:srgbClr val="2D3748"/>
                </a:solidFill>
                <a:latin typeface="Times New Roman"/>
                <a:ea typeface="Times New Roman"/>
                <a:cs typeface="Times New Roman"/>
                <a:sym typeface="Times New Roman"/>
              </a:rPr>
              <a:t>• Animal-Lock Baffle: </a:t>
            </a:r>
            <a:r>
              <a:rPr lang="en-US" sz="1950" b="false" i="false">
                <a:solidFill>
                  <a:srgbClr val="2D3748"/>
                </a:solidFill>
                <a:latin typeface="Times New Roman"/>
                <a:ea typeface="Times New Roman"/>
                <a:cs typeface="Times New Roman"/>
                <a:sym typeface="Times New Roman"/>
              </a:rPr>
              <a:t>The resting overhead platen acts as a physical ceiling. Stray cows and dogs cannot reach inside or drag out trash bags, keeping public sidewalks completely clean.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Slide Title" id="201"/>
          <p:cNvSpPr txBox="true"/>
          <p:nvPr/>
        </p:nvSpPr>
        <p:spPr>
          <a:xfrm rot="0">
            <a:off x="1028700" y="450000"/>
            <a:ext cx="13500000" cy="850000"/>
          </a:xfrm>
          <a:prstGeom prst="rect">
            <a:avLst/>
          </a:prstGeom>
          <a:noFill/>
          <a:ln>
            <a:noFill/>
          </a:ln>
        </p:spPr>
        <p:txBody>
          <a:bodyPr anchor="t" rtlCol="false" tIns="72000" lIns="216000" bIns="72000" rIns="216000">
            <a:spAutoFit/>
          </a:bodyPr>
          <a:lstStyle/>
          <a:p>
            <a:pPr algn="l">
              <a:lnSpc>
                <a:spcPts val="3600"/>
              </a:lnSpc>
            </a:pPr>
            <a:r>
              <a:rPr lang="en-US" sz="3200" b="true" i="false">
                <a:solidFill>
                  <a:srgbClr val="1A202C"/>
                </a:solidFill>
                <a:latin typeface="Times New Roman"/>
                <a:ea typeface="Times New Roman"/>
                <a:cs typeface="Times New Roman"/>
                <a:sym typeface="Times New Roman"/>
              </a:rPr>
              <a:t>ENGINEERING ANATOMY &amp; TECHNICAL SPECIFICATIONS</a:t>
            </a:r>
          </a:p>
        </p:txBody>
      </p:sp>
      <p:sp>
        <p:nvSpPr>
          <p:cNvPr name="Rubric Badge" id="202"/>
          <p:cNvSpPr txBox="true"/>
          <p:nvPr/>
        </p:nvSpPr>
        <p:spPr>
          <a:xfrm rot="0">
            <a:off x="1028700" y="1250000"/>
            <a:ext cx="13500000" cy="550000"/>
          </a:xfrm>
          <a:prstGeom prst="rect">
            <a:avLst/>
          </a:prstGeom>
          <a:noFill/>
          <a:ln>
            <a:noFill/>
          </a:ln>
        </p:spPr>
        <p:txBody>
          <a:bodyPr anchor="t" rtlCol="false" tIns="72000" lIns="216000" bIns="72000" rIns="216000">
            <a:spAutoFit/>
          </a:bodyPr>
          <a:lstStyle/>
          <a:p>
            <a:pPr algn="l">
              <a:lnSpc>
                <a:spcPts val="2000"/>
              </a:lnSpc>
            </a:pPr>
            <a:r>
              <a:rPr lang="en-US" sz="1500" b="true" i="false">
                <a:solidFill>
                  <a:srgbClr val="2B6CB0"/>
                </a:solidFill>
                <a:latin typeface="Times New Roman"/>
                <a:ea typeface="Times New Roman"/>
                <a:cs typeface="Times New Roman"/>
                <a:sym typeface="Times New Roman"/>
              </a:rPr>
              <a:t>PHYSICS CALCULATIONS, BIOMECHANICAL LEVERAGE &amp; BILL OF MATERIALS</a:t>
            </a:r>
          </a:p>
        </p:txBody>
      </p:sp>
      <p:sp>
        <p:nvSpPr>
          <p:cNvPr name="Event Badge" id="203"/>
          <p:cNvSpPr txBox="true"/>
          <p:nvPr/>
        </p:nvSpPr>
        <p:spPr>
          <a:xfrm rot="0">
            <a:off x="14700000" y="450000"/>
            <a:ext cx="2559300" cy="1200000"/>
          </a:xfrm>
          <a:prstGeom prst="rect">
            <a:avLst/>
          </a:prstGeom>
          <a:solidFill>
            <a:srgbClr val="EDF2F7"/>
          </a:solidFill>
          <a:ln w="12700">
            <a:solidFill>
              <a:srgbClr val="CBD5E0"/>
            </a:solidFill>
          </a:ln>
        </p:spPr>
        <p:txBody>
          <a:bodyPr anchor="t" rtlCol="false" tIns="72000" lIns="216000" bIns="72000" rIns="216000">
            <a:spAutoFit/>
          </a:bodyPr>
          <a:lstStyle/>
          <a:p>
            <a:pPr algn="ctr">
              <a:lnSpc>
                <a:spcPts val="2000"/>
              </a:lnSpc>
            </a:pPr>
            <a:r>
              <a:rPr lang="en-US" sz="1400" b="true" i="false">
                <a:solidFill>
                  <a:srgbClr val="2D3748"/>
                </a:solidFill>
                <a:latin typeface="Times New Roman"/>
                <a:ea typeface="Times New Roman"/>
                <a:cs typeface="Times New Roman"/>
                <a:sym typeface="Times New Roman"/>
              </a:rPr>
              <a:t>EMERGE FOR GOOD</a:t>
            </a:r>
          </a:p>
          <a:p>
            <a:pPr algn="ctr">
              <a:lnSpc>
                <a:spcPts val="1800"/>
              </a:lnSpc>
            </a:pPr>
            <a:r>
              <a:rPr lang="en-US" sz="1200" b="false" i="false">
                <a:solidFill>
                  <a:srgbClr val="4A5568"/>
                </a:solidFill>
                <a:latin typeface="Times New Roman"/>
                <a:ea typeface="Times New Roman"/>
                <a:cs typeface="Times New Roman"/>
                <a:sym typeface="Times New Roman"/>
              </a:rPr>
              <a:t>TOP 50 FINALE | OCT 28</a:t>
            </a:r>
          </a:p>
          <a:p>
            <a:pPr algn="ctr">
              <a:lnSpc>
                <a:spcPts val="1800"/>
              </a:lnSpc>
            </a:pPr>
            <a:r>
              <a:rPr lang="en-US" sz="1300" b="true" i="false">
                <a:solidFill>
                  <a:srgbClr val="1B4D3E"/>
                </a:solidFill>
                <a:latin typeface="Times New Roman"/>
                <a:ea typeface="Times New Roman"/>
                <a:cs typeface="Times New Roman"/>
                <a:sym typeface="Times New Roman"/>
              </a:rPr>
              <a:t>TEAM: EFG-090</a:t>
            </a:r>
          </a:p>
        </p:txBody>
      </p:sp>
      <p:sp>
        <p:nvSpPr>
          <p:cNvPr name="Line 204" id="204"/>
          <p:cNvSpPr/>
          <p:nvPr/>
        </p:nvSpPr>
        <p:spPr>
          <a:xfrm>
            <a:off x="1028700" y="1780000"/>
            <a:ext cx="16230600" cy="0"/>
          </a:xfrm>
          <a:prstGeom prst="line">
            <a:avLst/>
          </a:prstGeom>
          <a:ln w="12700">
            <a:solidFill>
              <a:srgbClr val="CBD5E0"/>
            </a:solidFill>
          </a:ln>
        </p:spPr>
      </p:sp>
      <p:sp>
        <p:nvSpPr>
          <p:cNvPr name="Footer Info" id="205"/>
          <p:cNvSpPr txBox="true"/>
          <p:nvPr/>
        </p:nvSpPr>
        <p:spPr>
          <a:xfrm rot="0">
            <a:off x="1028700" y="9600000"/>
            <a:ext cx="16230600" cy="580000"/>
          </a:xfrm>
          <a:prstGeom prst="rect">
            <a:avLst/>
          </a:prstGeom>
          <a:noFill/>
          <a:ln>
            <a:noFill/>
          </a:ln>
        </p:spPr>
        <p:txBody>
          <a:bodyPr anchor="t" rtlCol="false" tIns="72000" lIns="216000" bIns="72000" rIns="216000">
            <a:spAutoFit/>
          </a:bodyPr>
          <a:lstStyle/>
          <a:p>
            <a:pPr algn="l">
              <a:lnSpc>
                <a:spcPts val="2000"/>
              </a:lnSpc>
            </a:pPr>
            <a:r>
              <a:rPr lang="en-US" sz="1300" b="false" i="false">
                <a:solidFill>
                  <a:srgbClr val="718096"/>
                </a:solidFill>
                <a:latin typeface="Times New Roman"/>
                <a:ea typeface="Times New Roman"/>
                <a:cs typeface="Times New Roman"/>
                <a:sym typeface="Times New Roman"/>
              </a:rPr>
              <a:t>IDLEBIN | Grand Finale Innovation Challenge, Pondicherry University  |  Swachh Bharat Mission (SBM-U 2.0) Aligned</a:t>
            </a:r>
            <a:r>
              <a:rPr lang="en-US" sz="1300" b="true" i="false">
                <a:solidFill>
                  <a:srgbClr val="4A5568"/>
                </a:solidFill>
                <a:latin typeface="Times New Roman"/>
                <a:ea typeface="Times New Roman"/>
                <a:cs typeface="Times New Roman"/>
                <a:sym typeface="Times New Roman"/>
              </a:rPr>
              <a:t>                Slide 5 of 8</a:t>
            </a:r>
          </a:p>
        </p:txBody>
      </p:sp>
      <p:sp>
        <p:nvSpPr>
          <p:cNvPr name="Physics Specs" id="51"/>
          <p:cNvSpPr txBox="true"/>
          <p:nvPr/>
        </p:nvSpPr>
        <p:spPr>
          <a:xfrm rot="0">
            <a:off x="1028700" y="1950000"/>
            <a:ext cx="7900000" cy="7500000"/>
          </a:xfrm>
          <a:prstGeom prst="rect">
            <a:avLst/>
          </a:prstGeom>
          <a:solidFill>
            <a:srgbClr val="F7FAFC"/>
          </a:solidFill>
          <a:ln w="15000">
            <a:solidFill>
              <a:srgbClr val="CBD5E0"/>
            </a:solidFill>
          </a:ln>
        </p:spPr>
        <p:txBody>
          <a:bodyPr anchor="t" rtlCol="false" tIns="216000" lIns="288000" bIns="216000" rIns="288000">
            <a:spAutoFit/>
          </a:bodyPr>
          <a:lstStyle/>
          <a:p>
            <a:pPr algn="l">
              <a:lnSpc>
                <a:spcPts val="3000"/>
              </a:lnSpc>
              <a:spcAft>
                <a:spcPts val="1600"/>
              </a:spcAft>
            </a:pPr>
            <a:r>
              <a:rPr lang="en-US" sz="2300" b="true" i="false">
                <a:solidFill>
                  <a:srgbClr val="1B4D3E"/>
                </a:solidFill>
                <a:latin typeface="Times New Roman"/>
                <a:ea typeface="Times New Roman"/>
                <a:cs typeface="Times New Roman"/>
                <a:sym typeface="Times New Roman"/>
              </a:rPr>
              <a:t>BIOMECHANICAL PHYSICS &amp; SPECIFICATIONS</a:t>
            </a:r>
          </a:p>
          <a:p>
            <a:pPr algn="just">
              <a:lnSpc>
                <a:spcPts val="2550"/>
              </a:lnSpc>
              <a:spcAft>
                <a:spcPts val="900"/>
              </a:spcAft>
            </a:pPr>
            <a:r>
              <a:rPr lang="en-US" sz="1950" b="true" i="false">
                <a:solidFill>
                  <a:srgbClr val="2D3748"/>
                </a:solidFill>
                <a:latin typeface="Times New Roman"/>
                <a:ea typeface="Times New Roman"/>
                <a:cs typeface="Times New Roman"/>
                <a:sym typeface="Times New Roman"/>
              </a:rPr>
              <a:t>• Mechanical Advantage (MA): </a:t>
            </a:r>
            <a:r>
              <a:rPr lang="en-US" sz="1950" b="false" i="false">
                <a:solidFill>
                  <a:srgbClr val="2B6CB0"/>
                </a:solidFill>
                <a:latin typeface="Times New Roman"/>
                <a:ea typeface="Times New Roman"/>
                <a:cs typeface="Times New Roman"/>
                <a:sym typeface="Times New Roman"/>
              </a:rPr>
              <a:t>1 : 1.8 Force Amplification (Effort Arm 27 cm / Load Arm 15 cm)</a:t>
            </a:r>
          </a:p>
          <a:p>
            <a:pPr algn="just">
              <a:lnSpc>
                <a:spcPts val="2550"/>
              </a:lnSpc>
              <a:spcAft>
                <a:spcPts val="900"/>
              </a:spcAft>
            </a:pPr>
            <a:r>
              <a:rPr lang="en-US" sz="1950" b="true" i="false">
                <a:solidFill>
                  <a:srgbClr val="2D3748"/>
                </a:solidFill>
                <a:latin typeface="Times New Roman"/>
                <a:ea typeface="Times New Roman"/>
                <a:cs typeface="Times New Roman"/>
                <a:sym typeface="Times New Roman"/>
              </a:rPr>
              <a:t>• Human Foot Input Force: </a:t>
            </a:r>
            <a:r>
              <a:rPr lang="en-US" sz="1950" b="false" i="false">
                <a:solidFill>
                  <a:srgbClr val="2D3748"/>
                </a:solidFill>
                <a:latin typeface="Times New Roman"/>
                <a:ea typeface="Times New Roman"/>
                <a:cs typeface="Times New Roman"/>
                <a:sym typeface="Times New Roman"/>
              </a:rPr>
              <a:t>~350 N (Natural 35–40 kg bodyweight step)</a:t>
            </a:r>
          </a:p>
          <a:p>
            <a:pPr algn="just">
              <a:lnSpc>
                <a:spcPts val="2550"/>
              </a:lnSpc>
              <a:spcAft>
                <a:spcPts val="900"/>
              </a:spcAft>
            </a:pPr>
            <a:r>
              <a:rPr lang="en-US" sz="1950" b="true" i="false">
                <a:solidFill>
                  <a:srgbClr val="2D3748"/>
                </a:solidFill>
                <a:latin typeface="Times New Roman"/>
                <a:ea typeface="Times New Roman"/>
                <a:cs typeface="Times New Roman"/>
                <a:sym typeface="Times New Roman"/>
              </a:rPr>
              <a:t>• Downward Compaction Force: </a:t>
            </a:r>
            <a:r>
              <a:rPr lang="en-US" sz="1950" b="true" i="false">
                <a:solidFill>
                  <a:srgbClr val="1B4D3E"/>
                </a:solidFill>
                <a:latin typeface="Times New Roman"/>
                <a:ea typeface="Times New Roman"/>
                <a:cs typeface="Times New Roman"/>
                <a:sym typeface="Times New Roman"/>
              </a:rPr>
              <a:t>~630 N platen force (Sufficient to crush 3 PET bottles simultaneously)</a:t>
            </a:r>
          </a:p>
          <a:p>
            <a:pPr algn="just">
              <a:lnSpc>
                <a:spcPts val="2550"/>
              </a:lnSpc>
              <a:spcAft>
                <a:spcPts val="900"/>
              </a:spcAft>
            </a:pPr>
            <a:r>
              <a:rPr lang="en-US" sz="1950" b="true" i="false">
                <a:solidFill>
                  <a:srgbClr val="2D3748"/>
                </a:solidFill>
                <a:latin typeface="Times New Roman"/>
                <a:ea typeface="Times New Roman"/>
                <a:cs typeface="Times New Roman"/>
                <a:sym typeface="Times New Roman"/>
              </a:rPr>
              <a:t>• Volume Compaction Ratio: </a:t>
            </a:r>
            <a:r>
              <a:rPr lang="en-US" sz="1950" b="false" i="false">
                <a:solidFill>
                  <a:srgbClr val="2B6CB0"/>
                </a:solidFill>
                <a:latin typeface="Times New Roman"/>
                <a:ea typeface="Times New Roman"/>
                <a:cs typeface="Times New Roman"/>
                <a:sym typeface="Times New Roman"/>
              </a:rPr>
              <a:t>3.5:1 to 4:1 Volume Reduction (75% volume saved)</a:t>
            </a:r>
          </a:p>
          <a:p>
            <a:pPr algn="just">
              <a:lnSpc>
                <a:spcPts val="2550"/>
              </a:lnSpc>
              <a:spcAft>
                <a:spcPts val="900"/>
              </a:spcAft>
            </a:pPr>
            <a:r>
              <a:rPr lang="en-US" sz="1950" b="true" i="false">
                <a:solidFill>
                  <a:srgbClr val="2D3748"/>
                </a:solidFill>
                <a:latin typeface="Times New Roman"/>
                <a:ea typeface="Times New Roman"/>
                <a:cs typeface="Times New Roman"/>
                <a:sym typeface="Times New Roman"/>
              </a:rPr>
              <a:t>• Compaction Cycle Time: </a:t>
            </a:r>
            <a:r>
              <a:rPr lang="en-US" sz="1950" b="false" i="false">
                <a:solidFill>
                  <a:srgbClr val="2D3748"/>
                </a:solidFill>
                <a:latin typeface="Times New Roman"/>
                <a:ea typeface="Times New Roman"/>
                <a:cs typeface="Times New Roman"/>
                <a:sym typeface="Times New Roman"/>
              </a:rPr>
              <a:t>&lt; 1.5 seconds per complete compression stroke</a:t>
            </a:r>
          </a:p>
          <a:p>
            <a:pPr algn="just">
              <a:lnSpc>
                <a:spcPts val="2550"/>
              </a:lnSpc>
              <a:spcAft>
                <a:spcPts val="900"/>
              </a:spcAft>
            </a:pPr>
            <a:r>
              <a:rPr lang="en-US" sz="1950" b="true" i="false">
                <a:solidFill>
                  <a:srgbClr val="2D3748"/>
                </a:solidFill>
                <a:latin typeface="Times New Roman"/>
                <a:ea typeface="Times New Roman"/>
                <a:cs typeface="Times New Roman"/>
                <a:sym typeface="Times New Roman"/>
              </a:rPr>
              <a:t>• Power Consumption: </a:t>
            </a:r>
            <a:r>
              <a:rPr lang="en-US" sz="1950" b="true" i="false">
                <a:solidFill>
                  <a:srgbClr val="1B4D3E"/>
                </a:solidFill>
                <a:latin typeface="Times New Roman"/>
                <a:ea typeface="Times New Roman"/>
                <a:cs typeface="Times New Roman"/>
                <a:sym typeface="Times New Roman"/>
              </a:rPr>
              <a:t>0.00 Watts (100% mechanical leverage)</a:t>
            </a:r>
          </a:p>
          <a:p>
            <a:pPr algn="just">
              <a:lnSpc>
                <a:spcPts val="2550"/>
              </a:lnSpc>
              <a:spcAft>
                <a:spcPts val="900"/>
              </a:spcAft>
            </a:pPr>
            <a:r>
              <a:rPr lang="en-US" sz="1950" b="true" i="false">
                <a:solidFill>
                  <a:srgbClr val="2D3748"/>
                </a:solidFill>
                <a:latin typeface="Times New Roman"/>
                <a:ea typeface="Times New Roman"/>
                <a:cs typeface="Times New Roman"/>
                <a:sym typeface="Times New Roman"/>
              </a:rPr>
              <a:t>• Operating Temperature: </a:t>
            </a:r>
            <a:r>
              <a:rPr lang="en-US" sz="1950" b="false" i="false">
                <a:solidFill>
                  <a:srgbClr val="2D3748"/>
                </a:solidFill>
                <a:latin typeface="Times New Roman"/>
                <a:ea typeface="Times New Roman"/>
                <a:cs typeface="Times New Roman"/>
                <a:sym typeface="Times New Roman"/>
              </a:rPr>
              <a:t>-10°C to +60°C (Weatherproof, UV-stabilized HDPE drum)</a:t>
            </a:r>
          </a:p>
          <a:p>
            <a:pPr algn="just">
              <a:lnSpc>
                <a:spcPts val="2550"/>
              </a:lnSpc>
            </a:pPr>
            <a:r>
              <a:rPr lang="en-US" sz="1950" b="true" i="false">
                <a:solidFill>
                  <a:srgbClr val="2D3748"/>
                </a:solidFill>
                <a:latin typeface="Times New Roman"/>
                <a:ea typeface="Times New Roman"/>
                <a:cs typeface="Times New Roman"/>
                <a:sym typeface="Times New Roman"/>
              </a:rPr>
              <a:t>• Operating Lifespan / MTBF: </a:t>
            </a:r>
            <a:r>
              <a:rPr lang="en-US" sz="1950" b="false" i="false">
                <a:solidFill>
                  <a:srgbClr val="2D3748"/>
                </a:solidFill>
                <a:latin typeface="Times New Roman"/>
                <a:ea typeface="Times New Roman"/>
                <a:cs typeface="Times New Roman"/>
                <a:sym typeface="Times New Roman"/>
              </a:rPr>
              <a:t>&gt; 5 Years (Only springs &amp; pivot bolts require periodic check)</a:t>
            </a:r>
          </a:p>
        </p:txBody>
      </p:sp>
      <p:sp>
        <p:nvSpPr>
          <p:cNvPr name="BOM Table Card" id="52"/>
          <p:cNvSpPr txBox="true"/>
          <p:nvPr/>
        </p:nvSpPr>
        <p:spPr>
          <a:xfrm rot="0">
            <a:off x="9350000" y="1950000"/>
            <a:ext cx="7900000" cy="7500000"/>
          </a:xfrm>
          <a:prstGeom prst="rect">
            <a:avLst/>
          </a:prstGeom>
          <a:solidFill>
            <a:srgbClr val="F7FAFC"/>
          </a:solidFill>
          <a:ln w="15000">
            <a:solidFill>
              <a:srgbClr val="CBD5E0"/>
            </a:solidFill>
          </a:ln>
        </p:spPr>
        <p:txBody>
          <a:bodyPr anchor="t" rtlCol="false" tIns="216000" lIns="288000" bIns="216000" rIns="288000">
            <a:spAutoFit/>
          </a:bodyPr>
          <a:lstStyle/>
          <a:p>
            <a:pPr algn="l">
              <a:lnSpc>
                <a:spcPts val="3000"/>
              </a:lnSpc>
              <a:spcAft>
                <a:spcPts val="1600"/>
              </a:spcAft>
            </a:pPr>
            <a:r>
              <a:rPr lang="en-US" sz="2300" b="true" i="false">
                <a:solidFill>
                  <a:srgbClr val="1B4D3E"/>
                </a:solidFill>
                <a:latin typeface="Times New Roman"/>
                <a:ea typeface="Times New Roman"/>
                <a:cs typeface="Times New Roman"/>
                <a:sym typeface="Times New Roman"/>
              </a:rPr>
              <a:t>PROTOTYPE BILL OF MATERIALS (BOM)</a:t>
            </a:r>
          </a:p>
          <a:p>
            <a:pPr algn="l">
              <a:lnSpc>
                <a:spcPts val="2550"/>
              </a:lnSpc>
              <a:spcAft>
                <a:spcPts val="950"/>
              </a:spcAft>
            </a:pPr>
            <a:r>
              <a:rPr lang="en-US" sz="1950" b="true" i="false">
                <a:solidFill>
                  <a:srgbClr val="2D3748"/>
                </a:solidFill>
                <a:latin typeface="Times New Roman"/>
                <a:ea typeface="Times New Roman"/>
                <a:cs typeface="Times New Roman"/>
                <a:sym typeface="Times New Roman"/>
              </a:rPr>
              <a:t>1. HDPE Outer Bin (25L–30L): </a:t>
            </a:r>
            <a:r>
              <a:rPr lang="en-US" sz="1950" b="false" i="false">
                <a:solidFill>
                  <a:srgbClr val="4A5568"/>
                </a:solidFill>
                <a:latin typeface="Times New Roman"/>
                <a:ea typeface="Times New Roman"/>
                <a:cs typeface="Times New Roman"/>
                <a:sym typeface="Times New Roman"/>
              </a:rPr>
              <a:t>Rs. 250 (Durable waste drum)</a:t>
            </a:r>
          </a:p>
          <a:p>
            <a:pPr algn="l">
              <a:lnSpc>
                <a:spcPts val="2550"/>
              </a:lnSpc>
              <a:spcAft>
                <a:spcPts val="950"/>
              </a:spcAft>
            </a:pPr>
            <a:r>
              <a:rPr lang="en-US" sz="1950" b="true" i="false">
                <a:solidFill>
                  <a:srgbClr val="2D3748"/>
                </a:solidFill>
                <a:latin typeface="Times New Roman"/>
                <a:ea typeface="Times New Roman"/>
                <a:cs typeface="Times New Roman"/>
                <a:sym typeface="Times New Roman"/>
              </a:rPr>
              <a:t>2. Compactor Platen (8mm Perforated): </a:t>
            </a:r>
            <a:r>
              <a:rPr lang="en-US" sz="1950" b="false" i="false">
                <a:solidFill>
                  <a:srgbClr val="4A5568"/>
                </a:solidFill>
                <a:latin typeface="Times New Roman"/>
                <a:ea typeface="Times New Roman"/>
                <a:cs typeface="Times New Roman"/>
                <a:sym typeface="Times New Roman"/>
              </a:rPr>
              <a:t>Rs. 100 (Acrylic/Wood disk)</a:t>
            </a:r>
          </a:p>
          <a:p>
            <a:pPr algn="l">
              <a:lnSpc>
                <a:spcPts val="2550"/>
              </a:lnSpc>
              <a:spcAft>
                <a:spcPts val="950"/>
              </a:spcAft>
            </a:pPr>
            <a:r>
              <a:rPr lang="en-US" sz="1950" b="true" i="false">
                <a:solidFill>
                  <a:srgbClr val="2D3748"/>
                </a:solidFill>
                <a:latin typeface="Times New Roman"/>
                <a:ea typeface="Times New Roman"/>
                <a:cs typeface="Times New Roman"/>
                <a:sym typeface="Times New Roman"/>
              </a:rPr>
              <a:t>3. Linkage Pushrod (1/2" Steel/PVC): </a:t>
            </a:r>
            <a:r>
              <a:rPr lang="en-US" sz="1950" b="false" i="false">
                <a:solidFill>
                  <a:srgbClr val="4A5568"/>
                </a:solidFill>
                <a:latin typeface="Times New Roman"/>
                <a:ea typeface="Times New Roman"/>
                <a:cs typeface="Times New Roman"/>
                <a:sym typeface="Times New Roman"/>
              </a:rPr>
              <a:t>Rs. 120 (Vertical force rod)</a:t>
            </a:r>
          </a:p>
          <a:p>
            <a:pPr algn="l">
              <a:lnSpc>
                <a:spcPts val="2550"/>
              </a:lnSpc>
              <a:spcAft>
                <a:spcPts val="950"/>
              </a:spcAft>
            </a:pPr>
            <a:r>
              <a:rPr lang="en-US" sz="1950" b="true" i="false">
                <a:solidFill>
                  <a:srgbClr val="2D3748"/>
                </a:solidFill>
                <a:latin typeface="Times New Roman"/>
                <a:ea typeface="Times New Roman"/>
                <a:cs typeface="Times New Roman"/>
                <a:sym typeface="Times New Roman"/>
              </a:rPr>
              <a:t>4. Foot Pedal Lever (Mild Steel Bar): </a:t>
            </a:r>
            <a:r>
              <a:rPr lang="en-US" sz="1950" b="false" i="false">
                <a:solidFill>
                  <a:srgbClr val="4A5568"/>
                </a:solidFill>
                <a:latin typeface="Times New Roman"/>
                <a:ea typeface="Times New Roman"/>
                <a:cs typeface="Times New Roman"/>
                <a:sym typeface="Times New Roman"/>
              </a:rPr>
              <a:t>Rs. 80 (Pedal base arm)</a:t>
            </a:r>
          </a:p>
          <a:p>
            <a:pPr algn="l">
              <a:lnSpc>
                <a:spcPts val="2550"/>
              </a:lnSpc>
              <a:spcAft>
                <a:spcPts val="950"/>
              </a:spcAft>
            </a:pPr>
            <a:r>
              <a:rPr lang="en-US" sz="1950" b="true" i="false">
                <a:solidFill>
                  <a:srgbClr val="2D3748"/>
                </a:solidFill>
                <a:latin typeface="Times New Roman"/>
                <a:ea typeface="Times New Roman"/>
                <a:cs typeface="Times New Roman"/>
                <a:sym typeface="Times New Roman"/>
              </a:rPr>
              <a:t>5. Dual Helical Return Springs: </a:t>
            </a:r>
            <a:r>
              <a:rPr lang="en-US" sz="1950" b="false" i="false">
                <a:solidFill>
                  <a:srgbClr val="4A5568"/>
                </a:solidFill>
                <a:latin typeface="Times New Roman"/>
                <a:ea typeface="Times New Roman"/>
                <a:cs typeface="Times New Roman"/>
                <a:sym typeface="Times New Roman"/>
              </a:rPr>
              <a:t>Rs. 50 (Instant plate recoil)</a:t>
            </a:r>
          </a:p>
          <a:p>
            <a:pPr algn="l">
              <a:lnSpc>
                <a:spcPts val="2550"/>
              </a:lnSpc>
              <a:spcAft>
                <a:spcPts val="950"/>
              </a:spcAft>
            </a:pPr>
            <a:r>
              <a:rPr lang="en-US" sz="1950" b="true" i="false">
                <a:solidFill>
                  <a:srgbClr val="2D3748"/>
                </a:solidFill>
                <a:latin typeface="Times New Roman"/>
                <a:ea typeface="Times New Roman"/>
                <a:cs typeface="Times New Roman"/>
                <a:sym typeface="Times New Roman"/>
              </a:rPr>
              <a:t>6. Pivot Fasteners &amp; Hinges (M6/M8): </a:t>
            </a:r>
            <a:r>
              <a:rPr lang="en-US" sz="1950" b="false" i="false">
                <a:solidFill>
                  <a:srgbClr val="4A5568"/>
                </a:solidFill>
                <a:latin typeface="Times New Roman"/>
                <a:ea typeface="Times New Roman"/>
                <a:cs typeface="Times New Roman"/>
                <a:sym typeface="Times New Roman"/>
              </a:rPr>
              <a:t>Rs. 40 (Galvanized joints)</a:t>
            </a:r>
          </a:p>
          <a:p>
            <a:pPr algn="l">
              <a:lnSpc>
                <a:spcPts val="2550"/>
              </a:lnSpc>
              <a:spcAft>
                <a:spcPts val="1300"/>
              </a:spcAft>
            </a:pPr>
            <a:r>
              <a:rPr lang="en-US" sz="1950" b="true" i="false">
                <a:solidFill>
                  <a:srgbClr val="2D3748"/>
                </a:solidFill>
                <a:latin typeface="Times New Roman"/>
                <a:ea typeface="Times New Roman"/>
                <a:cs typeface="Times New Roman"/>
                <a:sym typeface="Times New Roman"/>
              </a:rPr>
              <a:t>7. Activated Coconut Charcoal Tray: </a:t>
            </a:r>
            <a:r>
              <a:rPr lang="en-US" sz="1950" b="false" i="false">
                <a:solidFill>
                  <a:srgbClr val="4A5568"/>
                </a:solidFill>
                <a:latin typeface="Times New Roman"/>
                <a:ea typeface="Times New Roman"/>
                <a:cs typeface="Times New Roman"/>
                <a:sym typeface="Times New Roman"/>
              </a:rPr>
              <a:t>Rs. 40 (Natural odor filter)</a:t>
            </a:r>
          </a:p>
          <a:p>
            <a:pPr algn="l">
              <a:lnSpc>
                <a:spcPts val="2800"/>
              </a:lnSpc>
              <a:spcAft>
                <a:spcPts val="1100"/>
              </a:spcAft>
            </a:pPr>
            <a:r>
              <a:rPr lang="en-US" sz="2100" b="true" i="false">
                <a:solidFill>
                  <a:srgbClr val="1B4D3E"/>
                </a:solidFill>
                <a:latin typeface="Times New Roman"/>
                <a:ea typeface="Times New Roman"/>
                <a:cs typeface="Times New Roman"/>
                <a:sym typeface="Times New Roman"/>
              </a:rPr>
              <a:t>TOTAL PROTOTYPE FABRICATION COST: </a:t>
            </a:r>
            <a:r>
              <a:rPr lang="en-US" sz="2100" b="true" i="false">
                <a:solidFill>
                  <a:srgbClr val="2B6CB0"/>
                </a:solidFill>
                <a:latin typeface="Times New Roman"/>
                <a:ea typeface="Times New Roman"/>
                <a:cs typeface="Times New Roman"/>
                <a:sym typeface="Times New Roman"/>
              </a:rPr>
              <a:t>Rs. 680 (~$8.50 USD)</a:t>
            </a:r>
          </a:p>
          <a:p>
            <a:pPr algn="just">
              <a:lnSpc>
                <a:spcPts val="2450"/>
              </a:lnSpc>
            </a:pPr>
            <a:r>
              <a:rPr lang="en-US" sz="1800" b="false" i="false">
                <a:solidFill>
                  <a:srgbClr val="2D3748"/>
                </a:solidFill>
                <a:latin typeface="Times New Roman"/>
                <a:ea typeface="Times New Roman"/>
                <a:cs typeface="Times New Roman"/>
                <a:sym typeface="Times New Roman"/>
              </a:rPr>
              <a:t>At batch production (1,000 units), sheet metal stamping and bulk sourcing reduce unit cost below </a:t>
            </a:r>
            <a:r>
              <a:rPr lang="en-US" sz="1800" b="true" i="false">
                <a:solidFill>
                  <a:srgbClr val="1B4D3E"/>
                </a:solidFill>
                <a:latin typeface="Times New Roman"/>
                <a:ea typeface="Times New Roman"/>
                <a:cs typeface="Times New Roman"/>
                <a:sym typeface="Times New Roman"/>
              </a:rPr>
              <a:t>Rs. 600 per bin.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Slide Title" id="201"/>
          <p:cNvSpPr txBox="true"/>
          <p:nvPr/>
        </p:nvSpPr>
        <p:spPr>
          <a:xfrm rot="0">
            <a:off x="1028700" y="450000"/>
            <a:ext cx="13500000" cy="850000"/>
          </a:xfrm>
          <a:prstGeom prst="rect">
            <a:avLst/>
          </a:prstGeom>
          <a:noFill/>
          <a:ln>
            <a:noFill/>
          </a:ln>
        </p:spPr>
        <p:txBody>
          <a:bodyPr anchor="t" rtlCol="false" tIns="72000" lIns="216000" bIns="72000" rIns="216000">
            <a:spAutoFit/>
          </a:bodyPr>
          <a:lstStyle/>
          <a:p>
            <a:pPr algn="l">
              <a:lnSpc>
                <a:spcPts val="3600"/>
              </a:lnSpc>
            </a:pPr>
            <a:r>
              <a:rPr lang="en-US" sz="3200" b="true" i="false">
                <a:solidFill>
                  <a:srgbClr val="1A202C"/>
                </a:solidFill>
                <a:latin typeface="Times New Roman"/>
                <a:ea typeface="Times New Roman"/>
                <a:cs typeface="Times New Roman"/>
                <a:sym typeface="Times New Roman"/>
              </a:rPr>
              <a:t>UNIT ECONOMICS &amp; SBM-U 2.0 GROUND IMPACT</a:t>
            </a:r>
          </a:p>
        </p:txBody>
      </p:sp>
      <p:sp>
        <p:nvSpPr>
          <p:cNvPr name="Rubric Badge" id="202"/>
          <p:cNvSpPr txBox="true"/>
          <p:nvPr/>
        </p:nvSpPr>
        <p:spPr>
          <a:xfrm rot="0">
            <a:off x="1028700" y="1250000"/>
            <a:ext cx="13500000" cy="550000"/>
          </a:xfrm>
          <a:prstGeom prst="rect">
            <a:avLst/>
          </a:prstGeom>
          <a:noFill/>
          <a:ln>
            <a:noFill/>
          </a:ln>
        </p:spPr>
        <p:txBody>
          <a:bodyPr anchor="t" rtlCol="false" tIns="72000" lIns="216000" bIns="72000" rIns="216000">
            <a:spAutoFit/>
          </a:bodyPr>
          <a:lstStyle/>
          <a:p>
            <a:pPr algn="l">
              <a:lnSpc>
                <a:spcPts val="2000"/>
              </a:lnSpc>
            </a:pPr>
            <a:r>
              <a:rPr lang="en-US" sz="1500" b="true" i="false">
                <a:solidFill>
                  <a:srgbClr val="2B6CB0"/>
                </a:solidFill>
                <a:latin typeface="Times New Roman"/>
                <a:ea typeface="Times New Roman"/>
                <a:cs typeface="Times New Roman"/>
                <a:sym typeface="Times New Roman"/>
              </a:rPr>
              <a:t>RUBRIC 3: COST JUSTIFICATION &amp; MEASURABLE SWACHH BHARAT METRICS [10 MARKS]</a:t>
            </a:r>
          </a:p>
        </p:txBody>
      </p:sp>
      <p:sp>
        <p:nvSpPr>
          <p:cNvPr name="Event Badge" id="203"/>
          <p:cNvSpPr txBox="true"/>
          <p:nvPr/>
        </p:nvSpPr>
        <p:spPr>
          <a:xfrm rot="0">
            <a:off x="14700000" y="450000"/>
            <a:ext cx="2559300" cy="1200000"/>
          </a:xfrm>
          <a:prstGeom prst="rect">
            <a:avLst/>
          </a:prstGeom>
          <a:solidFill>
            <a:srgbClr val="EDF2F7"/>
          </a:solidFill>
          <a:ln w="12700">
            <a:solidFill>
              <a:srgbClr val="CBD5E0"/>
            </a:solidFill>
          </a:ln>
        </p:spPr>
        <p:txBody>
          <a:bodyPr anchor="t" rtlCol="false" tIns="72000" lIns="216000" bIns="72000" rIns="216000">
            <a:spAutoFit/>
          </a:bodyPr>
          <a:lstStyle/>
          <a:p>
            <a:pPr algn="ctr">
              <a:lnSpc>
                <a:spcPts val="2000"/>
              </a:lnSpc>
            </a:pPr>
            <a:r>
              <a:rPr lang="en-US" sz="1400" b="true" i="false">
                <a:solidFill>
                  <a:srgbClr val="2D3748"/>
                </a:solidFill>
                <a:latin typeface="Times New Roman"/>
                <a:ea typeface="Times New Roman"/>
                <a:cs typeface="Times New Roman"/>
                <a:sym typeface="Times New Roman"/>
              </a:rPr>
              <a:t>EMERGE FOR GOOD</a:t>
            </a:r>
          </a:p>
          <a:p>
            <a:pPr algn="ctr">
              <a:lnSpc>
                <a:spcPts val="1800"/>
              </a:lnSpc>
            </a:pPr>
            <a:r>
              <a:rPr lang="en-US" sz="1200" b="false" i="false">
                <a:solidFill>
                  <a:srgbClr val="4A5568"/>
                </a:solidFill>
                <a:latin typeface="Times New Roman"/>
                <a:ea typeface="Times New Roman"/>
                <a:cs typeface="Times New Roman"/>
                <a:sym typeface="Times New Roman"/>
              </a:rPr>
              <a:t>TOP 50 FINALE | OCT 28</a:t>
            </a:r>
          </a:p>
          <a:p>
            <a:pPr algn="ctr">
              <a:lnSpc>
                <a:spcPts val="1800"/>
              </a:lnSpc>
            </a:pPr>
            <a:r>
              <a:rPr lang="en-US" sz="1300" b="true" i="false">
                <a:solidFill>
                  <a:srgbClr val="1B4D3E"/>
                </a:solidFill>
                <a:latin typeface="Times New Roman"/>
                <a:ea typeface="Times New Roman"/>
                <a:cs typeface="Times New Roman"/>
                <a:sym typeface="Times New Roman"/>
              </a:rPr>
              <a:t>TEAM: EFG-090</a:t>
            </a:r>
          </a:p>
        </p:txBody>
      </p:sp>
      <p:sp>
        <p:nvSpPr>
          <p:cNvPr name="Line 204" id="204"/>
          <p:cNvSpPr/>
          <p:nvPr/>
        </p:nvSpPr>
        <p:spPr>
          <a:xfrm>
            <a:off x="1028700" y="1780000"/>
            <a:ext cx="16230600" cy="0"/>
          </a:xfrm>
          <a:prstGeom prst="line">
            <a:avLst/>
          </a:prstGeom>
          <a:ln w="12700">
            <a:solidFill>
              <a:srgbClr val="CBD5E0"/>
            </a:solidFill>
          </a:ln>
        </p:spPr>
      </p:sp>
      <p:sp>
        <p:nvSpPr>
          <p:cNvPr name="Footer Info" id="205"/>
          <p:cNvSpPr txBox="true"/>
          <p:nvPr/>
        </p:nvSpPr>
        <p:spPr>
          <a:xfrm rot="0">
            <a:off x="1028700" y="9600000"/>
            <a:ext cx="16230600" cy="580000"/>
          </a:xfrm>
          <a:prstGeom prst="rect">
            <a:avLst/>
          </a:prstGeom>
          <a:noFill/>
          <a:ln>
            <a:noFill/>
          </a:ln>
        </p:spPr>
        <p:txBody>
          <a:bodyPr anchor="t" rtlCol="false" tIns="72000" lIns="216000" bIns="72000" rIns="216000">
            <a:spAutoFit/>
          </a:bodyPr>
          <a:lstStyle/>
          <a:p>
            <a:pPr algn="l">
              <a:lnSpc>
                <a:spcPts val="2000"/>
              </a:lnSpc>
            </a:pPr>
            <a:r>
              <a:rPr lang="en-US" sz="1300" b="false" i="false">
                <a:solidFill>
                  <a:srgbClr val="718096"/>
                </a:solidFill>
                <a:latin typeface="Times New Roman"/>
                <a:ea typeface="Times New Roman"/>
                <a:cs typeface="Times New Roman"/>
                <a:sym typeface="Times New Roman"/>
              </a:rPr>
              <a:t>IDLEBIN | Grand Finale Innovation Challenge, Pondicherry University  |  Swachh Bharat Mission (SBM-U 2.0) Aligned</a:t>
            </a:r>
            <a:r>
              <a:rPr lang="en-US" sz="1300" b="true" i="false">
                <a:solidFill>
                  <a:srgbClr val="4A5568"/>
                </a:solidFill>
                <a:latin typeface="Times New Roman"/>
                <a:ea typeface="Times New Roman"/>
                <a:cs typeface="Times New Roman"/>
                <a:sym typeface="Times New Roman"/>
              </a:rPr>
              <a:t>                Slide 6 of 8</a:t>
            </a:r>
          </a:p>
        </p:txBody>
      </p:sp>
      <p:sp>
        <p:nvSpPr>
          <p:cNvPr name="Economics Card" id="61"/>
          <p:cNvSpPr txBox="true"/>
          <p:nvPr/>
        </p:nvSpPr>
        <p:spPr>
          <a:xfrm rot="0">
            <a:off x="1028700" y="1950000"/>
            <a:ext cx="7900000" cy="7500000"/>
          </a:xfrm>
          <a:prstGeom prst="rect">
            <a:avLst/>
          </a:prstGeom>
          <a:solidFill>
            <a:srgbClr val="F7FAFC"/>
          </a:solidFill>
          <a:ln w="15000">
            <a:solidFill>
              <a:srgbClr val="CBD5E0"/>
            </a:solidFill>
          </a:ln>
        </p:spPr>
        <p:txBody>
          <a:bodyPr anchor="t" rtlCol="false" tIns="216000" lIns="288000" bIns="216000" rIns="288000">
            <a:spAutoFit/>
          </a:bodyPr>
          <a:lstStyle/>
          <a:p>
            <a:pPr algn="l">
              <a:lnSpc>
                <a:spcPts val="3000"/>
              </a:lnSpc>
              <a:spcAft>
                <a:spcPts val="1600"/>
              </a:spcAft>
            </a:pPr>
            <a:r>
              <a:rPr lang="en-US" sz="2200" b="true" i="false">
                <a:solidFill>
                  <a:srgbClr val="1B4D3E"/>
                </a:solidFill>
                <a:latin typeface="Times New Roman"/>
                <a:ea typeface="Times New Roman"/>
                <a:cs typeface="Times New Roman"/>
                <a:sym typeface="Times New Roman"/>
              </a:rPr>
              <a:t>THE 450 : 1 MUNICIPAL COST ADVANTAGE</a:t>
            </a:r>
          </a:p>
          <a:p>
            <a:pPr algn="just">
              <a:lnSpc>
                <a:spcPts val="2600"/>
              </a:lnSpc>
              <a:spcAft>
                <a:spcPts val="1200"/>
              </a:spcAft>
            </a:pPr>
            <a:r>
              <a:rPr lang="en-US" sz="1950" b="true" i="false">
                <a:solidFill>
                  <a:srgbClr val="C53030"/>
                </a:solidFill>
                <a:latin typeface="Times New Roman"/>
                <a:ea typeface="Times New Roman"/>
                <a:cs typeface="Times New Roman"/>
                <a:sym typeface="Times New Roman"/>
              </a:rPr>
              <a:t>• Imported Smart Solar Bin Cost: </a:t>
            </a:r>
            <a:r>
              <a:rPr lang="en-US" sz="1950" b="false" i="false">
                <a:solidFill>
                  <a:srgbClr val="2D3748"/>
                </a:solidFill>
                <a:latin typeface="Times New Roman"/>
                <a:ea typeface="Times New Roman"/>
                <a:cs typeface="Times New Roman"/>
                <a:sym typeface="Times New Roman"/>
              </a:rPr>
              <a:t>Rs. 3,50,000+ per unit (exorbitant capital burden for Indian municipalities).</a:t>
            </a:r>
          </a:p>
          <a:p>
            <a:pPr algn="just">
              <a:lnSpc>
                <a:spcPts val="2600"/>
              </a:lnSpc>
              <a:spcAft>
                <a:spcPts val="1600"/>
              </a:spcAft>
            </a:pPr>
            <a:r>
              <a:rPr lang="en-US" sz="1950" b="true" i="false">
                <a:solidFill>
                  <a:srgbClr val="1B4D3E"/>
                </a:solidFill>
                <a:latin typeface="Times New Roman"/>
                <a:ea typeface="Times New Roman"/>
                <a:cs typeface="Times New Roman"/>
                <a:sym typeface="Times New Roman"/>
              </a:rPr>
              <a:t>• IdleBin Unit Production Cost: </a:t>
            </a:r>
            <a:r>
              <a:rPr lang="en-US" sz="1950" b="true" i="false">
                <a:solidFill>
                  <a:srgbClr val="1B4D3E"/>
                </a:solidFill>
                <a:latin typeface="Times New Roman"/>
                <a:ea typeface="Times New Roman"/>
                <a:cs typeface="Times New Roman"/>
                <a:sym typeface="Times New Roman"/>
              </a:rPr>
              <a:t>Rs. 650 to Rs. 850 in production batches.</a:t>
            </a:r>
          </a:p>
          <a:p>
            <a:pPr algn="just">
              <a:lnSpc>
                <a:spcPts val="2700"/>
              </a:lnSpc>
              <a:spcAft>
                <a:spcPts val="1600"/>
              </a:spcAft>
            </a:pPr>
            <a:r>
              <a:rPr lang="en-US" sz="1950" b="true" i="false">
                <a:solidFill>
                  <a:srgbClr val="2B6CB0"/>
                </a:solidFill>
                <a:latin typeface="Times New Roman"/>
                <a:ea typeface="Times New Roman"/>
                <a:cs typeface="Times New Roman"/>
                <a:sym typeface="Times New Roman"/>
              </a:rPr>
              <a:t>The Transformational Municipal Ratio: </a:t>
            </a:r>
            <a:r>
              <a:rPr lang="en-US" sz="1900" b="false" i="false">
                <a:solidFill>
                  <a:srgbClr val="2D3748"/>
                </a:solidFill>
                <a:latin typeface="Times New Roman"/>
                <a:ea typeface="Times New Roman"/>
                <a:cs typeface="Times New Roman"/>
                <a:sym typeface="Times New Roman"/>
              </a:rPr>
              <a:t>For the price of just ONE imported solar smart bin (Rs. 3.5 Lakhs), a municipal corporation or rural Gram Panchayat can deploy </a:t>
            </a:r>
            <a:r>
              <a:rPr lang="en-US" sz="1950" b="true" i="false">
                <a:solidFill>
                  <a:srgbClr val="1B4D3E"/>
                </a:solidFill>
                <a:latin typeface="Times New Roman"/>
                <a:ea typeface="Times New Roman"/>
                <a:cs typeface="Times New Roman"/>
                <a:sym typeface="Times New Roman"/>
              </a:rPr>
              <a:t>450+ IDLEBINS, </a:t>
            </a:r>
            <a:r>
              <a:rPr lang="en-US" sz="1900" b="false" i="false">
                <a:solidFill>
                  <a:srgbClr val="2D3748"/>
                </a:solidFill>
                <a:latin typeface="Times New Roman"/>
                <a:ea typeface="Times New Roman"/>
                <a:cs typeface="Times New Roman"/>
                <a:sym typeface="Times New Roman"/>
              </a:rPr>
              <a:t>fully blanketing an entire town, university campus, or temple corridor.</a:t>
            </a:r>
          </a:p>
          <a:p>
            <a:pPr algn="just">
              <a:lnSpc>
                <a:spcPts val="2650"/>
              </a:lnSpc>
            </a:pPr>
            <a:r>
              <a:rPr lang="en-US" sz="1950" b="true" i="false">
                <a:solidFill>
                  <a:srgbClr val="2D3748"/>
                </a:solidFill>
                <a:latin typeface="Times New Roman"/>
                <a:ea typeface="Times New Roman"/>
                <a:cs typeface="Times New Roman"/>
                <a:sym typeface="Times New Roman"/>
              </a:rPr>
              <a:t>• Zero Recurring Maintenance: </a:t>
            </a:r>
            <a:r>
              <a:rPr lang="en-US" sz="1900" b="false" i="false">
                <a:solidFill>
                  <a:srgbClr val="2D3748"/>
                </a:solidFill>
                <a:latin typeface="Times New Roman"/>
                <a:ea typeface="Times New Roman"/>
                <a:cs typeface="Times New Roman"/>
                <a:sym typeface="Times New Roman"/>
              </a:rPr>
              <a:t>Zero electricity bills, zero cloud SIM subscription costs, zero sensor cleaning downtime. 100% serviceable by any local blacksmith or village mechanic.</a:t>
            </a:r>
          </a:p>
        </p:txBody>
      </p:sp>
      <p:sp>
        <p:nvSpPr>
          <p:cNvPr name="Impact Card" id="62"/>
          <p:cNvSpPr txBox="true"/>
          <p:nvPr/>
        </p:nvSpPr>
        <p:spPr>
          <a:xfrm rot="0">
            <a:off x="9350000" y="1950000"/>
            <a:ext cx="7900000" cy="7500000"/>
          </a:xfrm>
          <a:prstGeom prst="rect">
            <a:avLst/>
          </a:prstGeom>
          <a:solidFill>
            <a:srgbClr val="F7FAFC"/>
          </a:solidFill>
          <a:ln w="15000">
            <a:solidFill>
              <a:srgbClr val="CBD5E0"/>
            </a:solidFill>
          </a:ln>
        </p:spPr>
        <p:txBody>
          <a:bodyPr anchor="t" rtlCol="false" tIns="216000" lIns="288000" bIns="216000" rIns="288000">
            <a:spAutoFit/>
          </a:bodyPr>
          <a:lstStyle/>
          <a:p>
            <a:pPr algn="l">
              <a:lnSpc>
                <a:spcPts val="3000"/>
              </a:lnSpc>
              <a:spcAft>
                <a:spcPts val="1600"/>
              </a:spcAft>
            </a:pPr>
            <a:r>
              <a:rPr lang="en-US" sz="2200" b="true" i="false">
                <a:solidFill>
                  <a:srgbClr val="1B4D3E"/>
                </a:solidFill>
                <a:latin typeface="Times New Roman"/>
                <a:ea typeface="Times New Roman"/>
                <a:cs typeface="Times New Roman"/>
                <a:sym typeface="Times New Roman"/>
              </a:rPr>
              <a:t>MEASURABLE GROUND IMPACT (SBM-U 2.0)</a:t>
            </a:r>
          </a:p>
          <a:p>
            <a:pPr algn="just">
              <a:lnSpc>
                <a:spcPts val="2600"/>
              </a:lnSpc>
              <a:spcAft>
                <a:spcPts val="1300"/>
              </a:spcAft>
            </a:pPr>
            <a:r>
              <a:rPr lang="en-US" sz="1900" b="true" i="false">
                <a:solidFill>
                  <a:srgbClr val="2B6CB0"/>
                </a:solidFill>
                <a:latin typeface="Times New Roman"/>
                <a:ea typeface="Times New Roman"/>
                <a:cs typeface="Times New Roman"/>
                <a:sym typeface="Times New Roman"/>
              </a:rPr>
              <a:t>1. Permanent Elimination of GVPs: </a:t>
            </a:r>
            <a:r>
              <a:rPr lang="en-US" sz="1900" b="false" i="false">
                <a:solidFill>
                  <a:srgbClr val="2D3748"/>
                </a:solidFill>
                <a:latin typeface="Times New Roman"/>
                <a:ea typeface="Times New Roman"/>
                <a:cs typeface="Times New Roman"/>
                <a:sym typeface="Times New Roman"/>
              </a:rPr>
              <a:t>Eliminating Garbage Vulnerable Points is a mandatory Swachh Bharat KPI. Preventing bin overflow stops the initial dump accumulation that creates black spots.</a:t>
            </a:r>
          </a:p>
          <a:p>
            <a:pPr algn="just">
              <a:lnSpc>
                <a:spcPts val="2600"/>
              </a:lnSpc>
              <a:spcAft>
                <a:spcPts val="1300"/>
              </a:spcAft>
            </a:pPr>
            <a:r>
              <a:rPr lang="en-US" sz="1900" b="true" i="false">
                <a:solidFill>
                  <a:srgbClr val="2B6CB0"/>
                </a:solidFill>
                <a:latin typeface="Times New Roman"/>
                <a:ea typeface="Times New Roman"/>
                <a:cs typeface="Times New Roman"/>
                <a:sym typeface="Times New Roman"/>
              </a:rPr>
              <a:t>2. 50% Waste Logistics Fuel Savings: </a:t>
            </a:r>
            <a:r>
              <a:rPr lang="en-US" sz="1900" b="false" i="false">
                <a:solidFill>
                  <a:srgbClr val="2D3748"/>
                </a:solidFill>
                <a:latin typeface="Times New Roman"/>
                <a:ea typeface="Times New Roman"/>
                <a:cs typeface="Times New Roman"/>
                <a:sym typeface="Times New Roman"/>
              </a:rPr>
              <a:t>Because waste density is multiplied 4x, municipal auto-tippers and tractors need 50% fewer daily collection runs per ward, directly saving thousands of liters of diesel.</a:t>
            </a:r>
          </a:p>
          <a:p>
            <a:pPr algn="just">
              <a:lnSpc>
                <a:spcPts val="2600"/>
              </a:lnSpc>
              <a:spcAft>
                <a:spcPts val="1300"/>
              </a:spcAft>
            </a:pPr>
            <a:r>
              <a:rPr lang="en-US" sz="1900" b="true" i="false">
                <a:solidFill>
                  <a:srgbClr val="2B6CB0"/>
                </a:solidFill>
                <a:latin typeface="Times New Roman"/>
                <a:ea typeface="Times New Roman"/>
                <a:cs typeface="Times New Roman"/>
                <a:sym typeface="Times New Roman"/>
              </a:rPr>
              <a:t>3. Worker Dignity &amp; Health: </a:t>
            </a:r>
            <a:r>
              <a:rPr lang="en-US" sz="1900" b="false" i="false">
                <a:solidFill>
                  <a:srgbClr val="2D3748"/>
                </a:solidFill>
                <a:latin typeface="Times New Roman"/>
                <a:ea typeface="Times New Roman"/>
                <a:cs typeface="Times New Roman"/>
                <a:sym typeface="Times New Roman"/>
              </a:rPr>
              <a:t>Sanitation staff no longer have to shovel rotten, scattered waste from the road using hand trowels. Compacted waste is lifted out in dense, clean bags, preventing occupational injuries.</a:t>
            </a:r>
          </a:p>
          <a:p>
            <a:pPr algn="just">
              <a:lnSpc>
                <a:spcPts val="2600"/>
              </a:lnSpc>
            </a:pPr>
            <a:r>
              <a:rPr lang="en-US" sz="1900" b="true" i="false">
                <a:solidFill>
                  <a:srgbClr val="2B6CB0"/>
                </a:solidFill>
                <a:latin typeface="Times New Roman"/>
                <a:ea typeface="Times New Roman"/>
                <a:cs typeface="Times New Roman"/>
                <a:sym typeface="Times New Roman"/>
              </a:rPr>
              <a:t>4. 100% Pan-India Rural Feasibility: </a:t>
            </a:r>
            <a:r>
              <a:rPr lang="en-US" sz="1900" b="false" i="false">
                <a:solidFill>
                  <a:srgbClr val="2D3748"/>
                </a:solidFill>
                <a:latin typeface="Times New Roman"/>
                <a:ea typeface="Times New Roman"/>
                <a:cs typeface="Times New Roman"/>
                <a:sym typeface="Times New Roman"/>
              </a:rPr>
              <a:t>Operates identically in remote coastal fishing hamlets, hilly pilgrimage sites, or metropolitan markets without requiring electrical grid connections or cellular signals.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Slide Title" id="201"/>
          <p:cNvSpPr txBox="true"/>
          <p:nvPr/>
        </p:nvSpPr>
        <p:spPr>
          <a:xfrm rot="0">
            <a:off x="1028700" y="450000"/>
            <a:ext cx="13500000" cy="850000"/>
          </a:xfrm>
          <a:prstGeom prst="rect">
            <a:avLst/>
          </a:prstGeom>
          <a:noFill/>
          <a:ln>
            <a:noFill/>
          </a:ln>
        </p:spPr>
        <p:txBody>
          <a:bodyPr anchor="t" rtlCol="false" tIns="72000" lIns="216000" bIns="72000" rIns="216000">
            <a:spAutoFit/>
          </a:bodyPr>
          <a:lstStyle/>
          <a:p>
            <a:pPr algn="l">
              <a:lnSpc>
                <a:spcPts val="3600"/>
              </a:lnSpc>
            </a:pPr>
            <a:r>
              <a:rPr lang="en-US" sz="3200" b="true" i="false">
                <a:solidFill>
                  <a:srgbClr val="1A202C"/>
                </a:solidFill>
                <a:latin typeface="Times New Roman"/>
                <a:ea typeface="Times New Roman"/>
                <a:cs typeface="Times New Roman"/>
                <a:sym typeface="Times New Roman"/>
              </a:rPr>
              <a:t>PLAN OF ACTION &amp; 1 LAKH INR BUDGET ALLOCATION</a:t>
            </a:r>
          </a:p>
        </p:txBody>
      </p:sp>
      <p:sp>
        <p:nvSpPr>
          <p:cNvPr name="Rubric Badge" id="202"/>
          <p:cNvSpPr txBox="true"/>
          <p:nvPr/>
        </p:nvSpPr>
        <p:spPr>
          <a:xfrm rot="0">
            <a:off x="1028700" y="1250000"/>
            <a:ext cx="13500000" cy="550000"/>
          </a:xfrm>
          <a:prstGeom prst="rect">
            <a:avLst/>
          </a:prstGeom>
          <a:noFill/>
          <a:ln>
            <a:noFill/>
          </a:ln>
        </p:spPr>
        <p:txBody>
          <a:bodyPr anchor="t" rtlCol="false" tIns="72000" lIns="216000" bIns="72000" rIns="216000">
            <a:spAutoFit/>
          </a:bodyPr>
          <a:lstStyle/>
          <a:p>
            <a:pPr algn="l">
              <a:lnSpc>
                <a:spcPts val="2000"/>
              </a:lnSpc>
            </a:pPr>
            <a:r>
              <a:rPr lang="en-US" sz="1500" b="true" i="false">
                <a:solidFill>
                  <a:srgbClr val="2B6CB0"/>
                </a:solidFill>
                <a:latin typeface="Times New Roman"/>
                <a:ea typeface="Times New Roman"/>
                <a:cs typeface="Times New Roman"/>
                <a:sym typeface="Times New Roman"/>
              </a:rPr>
              <a:t>RUBRIC 4: BUDGET UTILIZATION &amp; IMMEDIATE 3 STEPS [10 MARKS]</a:t>
            </a:r>
          </a:p>
        </p:txBody>
      </p:sp>
      <p:sp>
        <p:nvSpPr>
          <p:cNvPr name="Event Badge" id="203"/>
          <p:cNvSpPr txBox="true"/>
          <p:nvPr/>
        </p:nvSpPr>
        <p:spPr>
          <a:xfrm rot="0">
            <a:off x="14700000" y="450000"/>
            <a:ext cx="2559300" cy="1200000"/>
          </a:xfrm>
          <a:prstGeom prst="rect">
            <a:avLst/>
          </a:prstGeom>
          <a:solidFill>
            <a:srgbClr val="EDF2F7"/>
          </a:solidFill>
          <a:ln w="12700">
            <a:solidFill>
              <a:srgbClr val="CBD5E0"/>
            </a:solidFill>
          </a:ln>
        </p:spPr>
        <p:txBody>
          <a:bodyPr anchor="t" rtlCol="false" tIns="72000" lIns="216000" bIns="72000" rIns="216000">
            <a:spAutoFit/>
          </a:bodyPr>
          <a:lstStyle/>
          <a:p>
            <a:pPr algn="ctr">
              <a:lnSpc>
                <a:spcPts val="2000"/>
              </a:lnSpc>
            </a:pPr>
            <a:r>
              <a:rPr lang="en-US" sz="1400" b="true" i="false">
                <a:solidFill>
                  <a:srgbClr val="2D3748"/>
                </a:solidFill>
                <a:latin typeface="Times New Roman"/>
                <a:ea typeface="Times New Roman"/>
                <a:cs typeface="Times New Roman"/>
                <a:sym typeface="Times New Roman"/>
              </a:rPr>
              <a:t>EMERGE FOR GOOD</a:t>
            </a:r>
          </a:p>
          <a:p>
            <a:pPr algn="ctr">
              <a:lnSpc>
                <a:spcPts val="1800"/>
              </a:lnSpc>
            </a:pPr>
            <a:r>
              <a:rPr lang="en-US" sz="1200" b="false" i="false">
                <a:solidFill>
                  <a:srgbClr val="4A5568"/>
                </a:solidFill>
                <a:latin typeface="Times New Roman"/>
                <a:ea typeface="Times New Roman"/>
                <a:cs typeface="Times New Roman"/>
                <a:sym typeface="Times New Roman"/>
              </a:rPr>
              <a:t>TOP 50 FINALE | OCT 28</a:t>
            </a:r>
          </a:p>
          <a:p>
            <a:pPr algn="ctr">
              <a:lnSpc>
                <a:spcPts val="1800"/>
              </a:lnSpc>
            </a:pPr>
            <a:r>
              <a:rPr lang="en-US" sz="1300" b="true" i="false">
                <a:solidFill>
                  <a:srgbClr val="1B4D3E"/>
                </a:solidFill>
                <a:latin typeface="Times New Roman"/>
                <a:ea typeface="Times New Roman"/>
                <a:cs typeface="Times New Roman"/>
                <a:sym typeface="Times New Roman"/>
              </a:rPr>
              <a:t>TEAM: EFG-090</a:t>
            </a:r>
          </a:p>
        </p:txBody>
      </p:sp>
      <p:sp>
        <p:nvSpPr>
          <p:cNvPr name="Line 204" id="204"/>
          <p:cNvSpPr/>
          <p:nvPr/>
        </p:nvSpPr>
        <p:spPr>
          <a:xfrm>
            <a:off x="1028700" y="1780000"/>
            <a:ext cx="16230600" cy="0"/>
          </a:xfrm>
          <a:prstGeom prst="line">
            <a:avLst/>
          </a:prstGeom>
          <a:ln w="12700">
            <a:solidFill>
              <a:srgbClr val="CBD5E0"/>
            </a:solidFill>
          </a:ln>
        </p:spPr>
      </p:sp>
      <p:sp>
        <p:nvSpPr>
          <p:cNvPr name="Footer Info" id="205"/>
          <p:cNvSpPr txBox="true"/>
          <p:nvPr/>
        </p:nvSpPr>
        <p:spPr>
          <a:xfrm rot="0">
            <a:off x="1028700" y="9600000"/>
            <a:ext cx="16230600" cy="580000"/>
          </a:xfrm>
          <a:prstGeom prst="rect">
            <a:avLst/>
          </a:prstGeom>
          <a:noFill/>
          <a:ln>
            <a:noFill/>
          </a:ln>
        </p:spPr>
        <p:txBody>
          <a:bodyPr anchor="t" rtlCol="false" tIns="72000" lIns="216000" bIns="72000" rIns="216000">
            <a:spAutoFit/>
          </a:bodyPr>
          <a:lstStyle/>
          <a:p>
            <a:pPr algn="l">
              <a:lnSpc>
                <a:spcPts val="2000"/>
              </a:lnSpc>
            </a:pPr>
            <a:r>
              <a:rPr lang="en-US" sz="1300" b="false" i="false">
                <a:solidFill>
                  <a:srgbClr val="718096"/>
                </a:solidFill>
                <a:latin typeface="Times New Roman"/>
                <a:ea typeface="Times New Roman"/>
                <a:cs typeface="Times New Roman"/>
                <a:sym typeface="Times New Roman"/>
              </a:rPr>
              <a:t>IDLEBIN | Grand Finale Innovation Challenge, Pondicherry University  |  Swachh Bharat Mission (SBM-U 2.0) Aligned</a:t>
            </a:r>
            <a:r>
              <a:rPr lang="en-US" sz="1300" b="true" i="false">
                <a:solidFill>
                  <a:srgbClr val="4A5568"/>
                </a:solidFill>
                <a:latin typeface="Times New Roman"/>
                <a:ea typeface="Times New Roman"/>
                <a:cs typeface="Times New Roman"/>
                <a:sym typeface="Times New Roman"/>
              </a:rPr>
              <a:t>                Slide 7 of 8</a:t>
            </a:r>
          </a:p>
        </p:txBody>
      </p:sp>
      <p:sp>
        <p:nvSpPr>
          <p:cNvPr name="Budget Card" id="71"/>
          <p:cNvSpPr txBox="true"/>
          <p:nvPr/>
        </p:nvSpPr>
        <p:spPr>
          <a:xfrm rot="0">
            <a:off x="1028700" y="1950000"/>
            <a:ext cx="16230600" cy="4400000"/>
          </a:xfrm>
          <a:prstGeom prst="rect">
            <a:avLst/>
          </a:prstGeom>
          <a:solidFill>
            <a:srgbClr val="F7FAFC"/>
          </a:solidFill>
          <a:ln w="15000">
            <a:solidFill>
              <a:srgbClr val="CBD5E0"/>
            </a:solidFill>
          </a:ln>
        </p:spPr>
        <p:txBody>
          <a:bodyPr anchor="t" rtlCol="false" tIns="180000" lIns="288000" bIns="180000" rIns="288000">
            <a:spAutoFit/>
          </a:bodyPr>
          <a:lstStyle/>
          <a:p>
            <a:pPr algn="l">
              <a:lnSpc>
                <a:spcPts val="2700"/>
              </a:lnSpc>
              <a:spcAft>
                <a:spcPts val="1000"/>
              </a:spcAft>
            </a:pPr>
            <a:r>
              <a:rPr lang="en-US" sz="2150" b="true" i="false">
                <a:solidFill>
                  <a:srgbClr val="1B4D3E"/>
                </a:solidFill>
                <a:latin typeface="Times New Roman"/>
                <a:ea typeface="Times New Roman"/>
                <a:cs typeface="Times New Roman"/>
                <a:sym typeface="Times New Roman"/>
              </a:rPr>
              <a:t>TRANSPARENT ALLOCATION OF 1 LAKH INR GRAND FINALE PRIZE</a:t>
            </a:r>
          </a:p>
          <a:p>
            <a:pPr algn="just">
              <a:lnSpc>
                <a:spcPts val="2450"/>
              </a:lnSpc>
              <a:spcAft>
                <a:spcPts val="800"/>
              </a:spcAft>
            </a:pPr>
            <a:r>
              <a:rPr lang="en-US" sz="1800" b="true" i="false">
                <a:solidFill>
                  <a:srgbClr val="2B6CB0"/>
                </a:solidFill>
                <a:latin typeface="Times New Roman"/>
                <a:ea typeface="Times New Roman"/>
                <a:cs typeface="Times New Roman"/>
                <a:sym typeface="Times New Roman"/>
              </a:rPr>
              <a:t>1. Campus &amp; Ward Pilot Batch Production (Rs. 45,000): </a:t>
            </a:r>
            <a:r>
              <a:rPr lang="en-US" sz="1800" b="false" i="false">
                <a:solidFill>
                  <a:srgbClr val="2D3748"/>
                </a:solidFill>
                <a:latin typeface="Times New Roman"/>
                <a:ea typeface="Times New Roman"/>
                <a:cs typeface="Times New Roman"/>
                <a:sym typeface="Times New Roman"/>
              </a:rPr>
              <a:t>Fabricate 50 outdoor-grade IdleBins (mild steel linkages + UV-stabilized HDPE drums @ Rs. 900/unit) for deployment across Pondicherry University canteens and bus shelters.</a:t>
            </a:r>
          </a:p>
          <a:p>
            <a:pPr algn="just">
              <a:lnSpc>
                <a:spcPts val="2450"/>
              </a:lnSpc>
              <a:spcAft>
                <a:spcPts val="800"/>
              </a:spcAft>
            </a:pPr>
            <a:r>
              <a:rPr lang="en-US" sz="1800" b="true" i="false">
                <a:solidFill>
                  <a:srgbClr val="2B6CB0"/>
                </a:solidFill>
                <a:latin typeface="Times New Roman"/>
                <a:ea typeface="Times New Roman"/>
                <a:cs typeface="Times New Roman"/>
                <a:sym typeface="Times New Roman"/>
              </a:rPr>
              <a:t>2. Tooling, Dies &amp; Retention Baffle Molds (Rs. 25,000): </a:t>
            </a:r>
            <a:r>
              <a:rPr lang="en-US" sz="1800" b="false" i="false">
                <a:solidFill>
                  <a:srgbClr val="2D3748"/>
                </a:solidFill>
                <a:latin typeface="Times New Roman"/>
                <a:ea typeface="Times New Roman"/>
                <a:cs typeface="Times New Roman"/>
                <a:sym typeface="Times New Roman"/>
              </a:rPr>
              <a:t>Develop dedicated sheet metal stamping dies for uniform pedal levers and injection-molded rubber retention teeth, slashing manufacturing cycle time by 60%.</a:t>
            </a:r>
          </a:p>
          <a:p>
            <a:pPr algn="just">
              <a:lnSpc>
                <a:spcPts val="2450"/>
              </a:lnSpc>
              <a:spcAft>
                <a:spcPts val="800"/>
              </a:spcAft>
            </a:pPr>
            <a:r>
              <a:rPr lang="en-US" sz="1800" b="true" i="false">
                <a:solidFill>
                  <a:srgbClr val="2B6CB0"/>
                </a:solidFill>
                <a:latin typeface="Times New Roman"/>
                <a:ea typeface="Times New Roman"/>
                <a:cs typeface="Times New Roman"/>
                <a:sym typeface="Times New Roman"/>
              </a:rPr>
              <a:t>3. Municipal Pilot &amp; SBM Compliance Certification (Rs. 15,000): </a:t>
            </a:r>
            <a:r>
              <a:rPr lang="en-US" sz="1800" b="false" i="false">
                <a:solidFill>
                  <a:srgbClr val="2D3748"/>
                </a:solidFill>
                <a:latin typeface="Times New Roman"/>
                <a:ea typeface="Times New Roman"/>
                <a:cs typeface="Times New Roman"/>
                <a:sym typeface="Times New Roman"/>
              </a:rPr>
              <a:t>Conduct certified field trials with local Panchayat and Municipal Corporation engineers, logging compaction density metrics and waste reduction telemetry.</a:t>
            </a:r>
          </a:p>
          <a:p>
            <a:pPr algn="just">
              <a:lnSpc>
                <a:spcPts val="2450"/>
              </a:lnSpc>
            </a:pPr>
            <a:r>
              <a:rPr lang="en-US" sz="1800" b="true" i="false">
                <a:solidFill>
                  <a:srgbClr val="2B6CB0"/>
                </a:solidFill>
                <a:latin typeface="Times New Roman"/>
                <a:ea typeface="Times New Roman"/>
                <a:cs typeface="Times New Roman"/>
                <a:sym typeface="Times New Roman"/>
              </a:rPr>
              <a:t>4. Intellectual Property &amp; Design Patent Filing (Rs. 15,000): </a:t>
            </a:r>
            <a:r>
              <a:rPr lang="en-US" sz="1800" b="false" i="false">
                <a:solidFill>
                  <a:srgbClr val="2D3748"/>
                </a:solidFill>
                <a:latin typeface="Times New Roman"/>
                <a:ea typeface="Times New Roman"/>
                <a:cs typeface="Times New Roman"/>
                <a:sym typeface="Times New Roman"/>
              </a:rPr>
              <a:t>File Indian Design Patent &amp; Utility Model applications for the unique dual-action pedal-platen linkage and one-way gravity retention baffle system.</a:t>
            </a:r>
          </a:p>
        </p:txBody>
      </p:sp>
      <p:sp>
        <p:nvSpPr>
          <p:cNvPr name="Immediate Steps Card" id="72"/>
          <p:cNvSpPr txBox="true"/>
          <p:nvPr/>
        </p:nvSpPr>
        <p:spPr>
          <a:xfrm rot="0">
            <a:off x="1028700" y="6550000"/>
            <a:ext cx="16230600" cy="2900000"/>
          </a:xfrm>
          <a:prstGeom prst="rect">
            <a:avLst/>
          </a:prstGeom>
          <a:solidFill>
            <a:srgbClr val="EDF2F7"/>
          </a:solidFill>
          <a:ln w="15000">
            <a:solidFill>
              <a:srgbClr val="CBD5E0"/>
            </a:solidFill>
          </a:ln>
        </p:spPr>
        <p:txBody>
          <a:bodyPr anchor="t" rtlCol="false" tIns="180000" lIns="288000" bIns="180000" rIns="288000">
            <a:spAutoFit/>
          </a:bodyPr>
          <a:lstStyle/>
          <a:p>
            <a:pPr algn="l">
              <a:lnSpc>
                <a:spcPts val="2700"/>
              </a:lnSpc>
              <a:spcAft>
                <a:spcPts val="1000"/>
              </a:spcAft>
            </a:pPr>
            <a:r>
              <a:rPr lang="en-US" sz="2150" b="true" i="false">
                <a:solidFill>
                  <a:srgbClr val="1B4D3E"/>
                </a:solidFill>
                <a:latin typeface="Times New Roman"/>
                <a:ea typeface="Times New Roman"/>
                <a:cs typeface="Times New Roman"/>
                <a:sym typeface="Times New Roman"/>
              </a:rPr>
              <a:t>OUR IMMEDIATE NEXT THREE STEPS</a:t>
            </a:r>
          </a:p>
          <a:p>
            <a:pPr algn="just">
              <a:lnSpc>
                <a:spcPts val="2450"/>
              </a:lnSpc>
              <a:spcAft>
                <a:spcPts val="800"/>
              </a:spcAft>
            </a:pPr>
            <a:r>
              <a:rPr lang="en-US" sz="1800" b="true" i="false">
                <a:solidFill>
                  <a:srgbClr val="2B6CB0"/>
                </a:solidFill>
                <a:latin typeface="Times New Roman"/>
                <a:ea typeface="Times New Roman"/>
                <a:cs typeface="Times New Roman"/>
                <a:sym typeface="Times New Roman"/>
              </a:rPr>
              <a:t>• Step 1 (Within 14 Days): </a:t>
            </a:r>
            <a:r>
              <a:rPr lang="en-US" sz="1800" b="false" i="false">
                <a:solidFill>
                  <a:srgbClr val="2D3748"/>
                </a:solidFill>
                <a:latin typeface="Times New Roman"/>
                <a:ea typeface="Times New Roman"/>
                <a:cs typeface="Times New Roman"/>
                <a:sym typeface="Times New Roman"/>
              </a:rPr>
              <a:t>Install a 10-bin live pilot across Pondicherry University canteens &amp; hostel gates to benchmark real-world compaction durability, student adoption rates, and spring recoil cycles.</a:t>
            </a:r>
          </a:p>
          <a:p>
            <a:pPr algn="just">
              <a:lnSpc>
                <a:spcPts val="2450"/>
              </a:lnSpc>
              <a:spcAft>
                <a:spcPts val="800"/>
              </a:spcAft>
            </a:pPr>
            <a:r>
              <a:rPr lang="en-US" sz="1800" b="true" i="false">
                <a:solidFill>
                  <a:srgbClr val="2B6CB0"/>
                </a:solidFill>
                <a:latin typeface="Times New Roman"/>
                <a:ea typeface="Times New Roman"/>
                <a:cs typeface="Times New Roman"/>
                <a:sym typeface="Times New Roman"/>
              </a:rPr>
              <a:t>• Step 2 (Within 30 Days): </a:t>
            </a:r>
            <a:r>
              <a:rPr lang="en-US" sz="1800" b="false" i="false">
                <a:solidFill>
                  <a:srgbClr val="2D3748"/>
                </a:solidFill>
                <a:latin typeface="Times New Roman"/>
                <a:ea typeface="Times New Roman"/>
                <a:cs typeface="Times New Roman"/>
                <a:sym typeface="Times New Roman"/>
              </a:rPr>
              <a:t>Partner with local sheet-metal fabrication workshops in Puducherry and Chennai industrial corridors to standardize jigs and bring volume production cost below Rs. 600.</a:t>
            </a:r>
          </a:p>
          <a:p>
            <a:pPr algn="just">
              <a:lnSpc>
                <a:spcPts val="2450"/>
              </a:lnSpc>
            </a:pPr>
            <a:r>
              <a:rPr lang="en-US" sz="1800" b="true" i="false">
                <a:solidFill>
                  <a:srgbClr val="2B6CB0"/>
                </a:solidFill>
                <a:latin typeface="Times New Roman"/>
                <a:ea typeface="Times New Roman"/>
                <a:cs typeface="Times New Roman"/>
                <a:sym typeface="Times New Roman"/>
              </a:rPr>
              <a:t>• Step 3 (Within 45 Days): </a:t>
            </a:r>
            <a:r>
              <a:rPr lang="en-US" sz="1800" b="false" i="false">
                <a:solidFill>
                  <a:srgbClr val="2D3748"/>
                </a:solidFill>
                <a:latin typeface="Times New Roman"/>
                <a:ea typeface="Times New Roman"/>
                <a:cs typeface="Times New Roman"/>
                <a:sym typeface="Times New Roman"/>
              </a:rPr>
              <a:t>Submit verified field trial reports to Puducherry Smart City Development and Swachh Bharat Mission (SBM-U 2.0) officials for municipal ward adoption.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Slide Title" id="201"/>
          <p:cNvSpPr txBox="true"/>
          <p:nvPr/>
        </p:nvSpPr>
        <p:spPr>
          <a:xfrm rot="0">
            <a:off x="1028700" y="450000"/>
            <a:ext cx="13500000" cy="850000"/>
          </a:xfrm>
          <a:prstGeom prst="rect">
            <a:avLst/>
          </a:prstGeom>
          <a:noFill/>
          <a:ln>
            <a:noFill/>
          </a:ln>
        </p:spPr>
        <p:txBody>
          <a:bodyPr anchor="t" rtlCol="false" tIns="72000" lIns="216000" bIns="72000" rIns="216000">
            <a:spAutoFit/>
          </a:bodyPr>
          <a:lstStyle/>
          <a:p>
            <a:pPr algn="l">
              <a:lnSpc>
                <a:spcPts val="3600"/>
              </a:lnSpc>
            </a:pPr>
            <a:r>
              <a:rPr lang="en-US" sz="3200" b="true" i="false">
                <a:solidFill>
                  <a:srgbClr val="1A202C"/>
                </a:solidFill>
                <a:latin typeface="Times New Roman"/>
                <a:ea typeface="Times New Roman"/>
                <a:cs typeface="Times New Roman"/>
                <a:sym typeface="Times New Roman"/>
              </a:rPr>
              <a:t>EXECUTION TIMELINE &amp; LIVE DEMO PLAN</a:t>
            </a:r>
          </a:p>
        </p:txBody>
      </p:sp>
      <p:sp>
        <p:nvSpPr>
          <p:cNvPr name="Rubric Badge" id="202"/>
          <p:cNvSpPr txBox="true"/>
          <p:nvPr/>
        </p:nvSpPr>
        <p:spPr>
          <a:xfrm rot="0">
            <a:off x="1028700" y="1250000"/>
            <a:ext cx="13500000" cy="550000"/>
          </a:xfrm>
          <a:prstGeom prst="rect">
            <a:avLst/>
          </a:prstGeom>
          <a:noFill/>
          <a:ln>
            <a:noFill/>
          </a:ln>
        </p:spPr>
        <p:txBody>
          <a:bodyPr anchor="t" rtlCol="false" tIns="72000" lIns="216000" bIns="72000" rIns="216000">
            <a:spAutoFit/>
          </a:bodyPr>
          <a:lstStyle/>
          <a:p>
            <a:pPr algn="l">
              <a:lnSpc>
                <a:spcPts val="2000"/>
              </a:lnSpc>
            </a:pPr>
            <a:r>
              <a:rPr lang="en-US" sz="1500" b="true" i="false">
                <a:solidFill>
                  <a:srgbClr val="2B6CB0"/>
                </a:solidFill>
                <a:latin typeface="Times New Roman"/>
                <a:ea typeface="Times New Roman"/>
                <a:cs typeface="Times New Roman"/>
                <a:sym typeface="Times New Roman"/>
              </a:rPr>
              <a:t>RUBRIC 4: BUILD, TEST &amp; ITERATE ROADMAP + STAGE DEMO [10 MARKS]</a:t>
            </a:r>
          </a:p>
        </p:txBody>
      </p:sp>
      <p:sp>
        <p:nvSpPr>
          <p:cNvPr name="Event Badge" id="203"/>
          <p:cNvSpPr txBox="true"/>
          <p:nvPr/>
        </p:nvSpPr>
        <p:spPr>
          <a:xfrm rot="0">
            <a:off x="14700000" y="450000"/>
            <a:ext cx="2559300" cy="1200000"/>
          </a:xfrm>
          <a:prstGeom prst="rect">
            <a:avLst/>
          </a:prstGeom>
          <a:solidFill>
            <a:srgbClr val="EDF2F7"/>
          </a:solidFill>
          <a:ln w="12700">
            <a:solidFill>
              <a:srgbClr val="CBD5E0"/>
            </a:solidFill>
          </a:ln>
        </p:spPr>
        <p:txBody>
          <a:bodyPr anchor="t" rtlCol="false" tIns="72000" lIns="216000" bIns="72000" rIns="216000">
            <a:spAutoFit/>
          </a:bodyPr>
          <a:lstStyle/>
          <a:p>
            <a:pPr algn="ctr">
              <a:lnSpc>
                <a:spcPts val="2000"/>
              </a:lnSpc>
            </a:pPr>
            <a:r>
              <a:rPr lang="en-US" sz="1400" b="true" i="false">
                <a:solidFill>
                  <a:srgbClr val="2D3748"/>
                </a:solidFill>
                <a:latin typeface="Times New Roman"/>
                <a:ea typeface="Times New Roman"/>
                <a:cs typeface="Times New Roman"/>
                <a:sym typeface="Times New Roman"/>
              </a:rPr>
              <a:t>EMERGE FOR GOOD</a:t>
            </a:r>
          </a:p>
          <a:p>
            <a:pPr algn="ctr">
              <a:lnSpc>
                <a:spcPts val="1800"/>
              </a:lnSpc>
            </a:pPr>
            <a:r>
              <a:rPr lang="en-US" sz="1200" b="false" i="false">
                <a:solidFill>
                  <a:srgbClr val="4A5568"/>
                </a:solidFill>
                <a:latin typeface="Times New Roman"/>
                <a:ea typeface="Times New Roman"/>
                <a:cs typeface="Times New Roman"/>
                <a:sym typeface="Times New Roman"/>
              </a:rPr>
              <a:t>TOP 50 FINALE | OCT 28</a:t>
            </a:r>
          </a:p>
          <a:p>
            <a:pPr algn="ctr">
              <a:lnSpc>
                <a:spcPts val="1800"/>
              </a:lnSpc>
            </a:pPr>
            <a:r>
              <a:rPr lang="en-US" sz="1300" b="true" i="false">
                <a:solidFill>
                  <a:srgbClr val="1B4D3E"/>
                </a:solidFill>
                <a:latin typeface="Times New Roman"/>
                <a:ea typeface="Times New Roman"/>
                <a:cs typeface="Times New Roman"/>
                <a:sym typeface="Times New Roman"/>
              </a:rPr>
              <a:t>TEAM: EFG-090</a:t>
            </a:r>
          </a:p>
        </p:txBody>
      </p:sp>
      <p:sp>
        <p:nvSpPr>
          <p:cNvPr name="Line 204" id="204"/>
          <p:cNvSpPr/>
          <p:nvPr/>
        </p:nvSpPr>
        <p:spPr>
          <a:xfrm>
            <a:off x="1028700" y="1780000"/>
            <a:ext cx="16230600" cy="0"/>
          </a:xfrm>
          <a:prstGeom prst="line">
            <a:avLst/>
          </a:prstGeom>
          <a:ln w="12700">
            <a:solidFill>
              <a:srgbClr val="CBD5E0"/>
            </a:solidFill>
          </a:ln>
        </p:spPr>
      </p:sp>
      <p:sp>
        <p:nvSpPr>
          <p:cNvPr name="Footer Info" id="205"/>
          <p:cNvSpPr txBox="true"/>
          <p:nvPr/>
        </p:nvSpPr>
        <p:spPr>
          <a:xfrm rot="0">
            <a:off x="1028700" y="9600000"/>
            <a:ext cx="16230600" cy="580000"/>
          </a:xfrm>
          <a:prstGeom prst="rect">
            <a:avLst/>
          </a:prstGeom>
          <a:noFill/>
          <a:ln>
            <a:noFill/>
          </a:ln>
        </p:spPr>
        <p:txBody>
          <a:bodyPr anchor="t" rtlCol="false" tIns="72000" lIns="216000" bIns="72000" rIns="216000">
            <a:spAutoFit/>
          </a:bodyPr>
          <a:lstStyle/>
          <a:p>
            <a:pPr algn="l">
              <a:lnSpc>
                <a:spcPts val="2000"/>
              </a:lnSpc>
            </a:pPr>
            <a:r>
              <a:rPr lang="en-US" sz="1300" b="false" i="false">
                <a:solidFill>
                  <a:srgbClr val="718096"/>
                </a:solidFill>
                <a:latin typeface="Times New Roman"/>
                <a:ea typeface="Times New Roman"/>
                <a:cs typeface="Times New Roman"/>
                <a:sym typeface="Times New Roman"/>
              </a:rPr>
              <a:t>IDLEBIN | Grand Finale Innovation Challenge, Pondicherry University  |  Swachh Bharat Mission (SBM-U 2.0) Aligned</a:t>
            </a:r>
            <a:r>
              <a:rPr lang="en-US" sz="1300" b="true" i="false">
                <a:solidFill>
                  <a:srgbClr val="4A5568"/>
                </a:solidFill>
                <a:latin typeface="Times New Roman"/>
                <a:ea typeface="Times New Roman"/>
                <a:cs typeface="Times New Roman"/>
                <a:sym typeface="Times New Roman"/>
              </a:rPr>
              <a:t>                Slide 8 of 8</a:t>
            </a:r>
          </a:p>
        </p:txBody>
      </p:sp>
      <p:sp>
        <p:nvSpPr>
          <p:cNvPr name="Roadmap Card" id="81"/>
          <p:cNvSpPr txBox="true"/>
          <p:nvPr/>
        </p:nvSpPr>
        <p:spPr>
          <a:xfrm rot="0">
            <a:off x="1028700" y="1950000"/>
            <a:ext cx="7900000" cy="5400000"/>
          </a:xfrm>
          <a:prstGeom prst="rect">
            <a:avLst/>
          </a:prstGeom>
          <a:solidFill>
            <a:srgbClr val="F7FAFC"/>
          </a:solidFill>
          <a:ln w="15000">
            <a:solidFill>
              <a:srgbClr val="CBD5E0"/>
            </a:solidFill>
          </a:ln>
        </p:spPr>
        <p:txBody>
          <a:bodyPr anchor="t" rtlCol="false" tIns="216000" lIns="288000" bIns="216000" rIns="288000">
            <a:spAutoFit/>
          </a:bodyPr>
          <a:lstStyle/>
          <a:p>
            <a:pPr algn="l">
              <a:lnSpc>
                <a:spcPts val="2800"/>
              </a:lnSpc>
              <a:spcAft>
                <a:spcPts val="1400"/>
              </a:spcAft>
            </a:pPr>
            <a:r>
              <a:rPr lang="en-US" sz="2200" b="true" i="false">
                <a:solidFill>
                  <a:srgbClr val="1B4D3E"/>
                </a:solidFill>
                <a:latin typeface="Times New Roman"/>
                <a:ea typeface="Times New Roman"/>
                <a:cs typeface="Times New Roman"/>
                <a:sym typeface="Times New Roman"/>
              </a:rPr>
              <a:t>3-MONTH BUILD, TEST &amp; ITERATE ROADMAP</a:t>
            </a:r>
          </a:p>
          <a:p>
            <a:pPr algn="l">
              <a:lnSpc>
                <a:spcPts val="2500"/>
              </a:lnSpc>
              <a:spcAft>
                <a:spcPts val="400"/>
              </a:spcAft>
            </a:pPr>
            <a:r>
              <a:rPr lang="en-US" sz="1900" b="true" i="false">
                <a:solidFill>
                  <a:srgbClr val="2B6CB0"/>
                </a:solidFill>
                <a:latin typeface="Times New Roman"/>
                <a:ea typeface="Times New Roman"/>
                <a:cs typeface="Times New Roman"/>
                <a:sym typeface="Times New Roman"/>
              </a:rPr>
              <a:t>• Month 1 (November 2026): Campus Pilot &amp; Rig Testing</a:t>
            </a:r>
          </a:p>
          <a:p>
            <a:pPr algn="just">
              <a:lnSpc>
                <a:spcPts val="2500"/>
              </a:lnSpc>
              <a:spcAft>
                <a:spcPts val="1200"/>
              </a:spcAft>
            </a:pPr>
            <a:r>
              <a:rPr lang="en-US" sz="1800" b="false" i="false">
                <a:solidFill>
                  <a:srgbClr val="2D3748"/>
                </a:solidFill>
                <a:latin typeface="Times New Roman"/>
                <a:ea typeface="Times New Roman"/>
                <a:cs typeface="Times New Roman"/>
                <a:sym typeface="Times New Roman"/>
              </a:rPr>
              <a:t>Deploy 50 pilot units across university canteens. Rig-test pedal linkage to 10,000 continuous compression cycles to measure spring fatigue and pivot wear.</a:t>
            </a:r>
          </a:p>
          <a:p>
            <a:pPr algn="l">
              <a:lnSpc>
                <a:spcPts val="2500"/>
              </a:lnSpc>
              <a:spcAft>
                <a:spcPts val="400"/>
              </a:spcAft>
            </a:pPr>
            <a:r>
              <a:rPr lang="en-US" sz="1900" b="true" i="false">
                <a:solidFill>
                  <a:srgbClr val="2B6CB0"/>
                </a:solidFill>
                <a:latin typeface="Times New Roman"/>
                <a:ea typeface="Times New Roman"/>
                <a:cs typeface="Times New Roman"/>
                <a:sym typeface="Times New Roman"/>
              </a:rPr>
              <a:t>• Month 2 (December 2026): Feedback Iteration &amp; Tooling</a:t>
            </a:r>
          </a:p>
          <a:p>
            <a:pPr algn="just">
              <a:lnSpc>
                <a:spcPts val="2500"/>
              </a:lnSpc>
              <a:spcAft>
                <a:spcPts val="1200"/>
              </a:spcAft>
            </a:pPr>
            <a:r>
              <a:rPr lang="en-US" sz="1800" b="false" i="false">
                <a:solidFill>
                  <a:srgbClr val="2D3748"/>
                </a:solidFill>
                <a:latin typeface="Times New Roman"/>
                <a:ea typeface="Times New Roman"/>
                <a:cs typeface="Times New Roman"/>
                <a:sym typeface="Times New Roman"/>
              </a:rPr>
              <a:t>Iterate internal retention teeth geometry based on bottle bounce-back logs; apply zinc-plated anti-corrosion coating; file Indian Design Patent.</a:t>
            </a:r>
          </a:p>
          <a:p>
            <a:pPr algn="l">
              <a:lnSpc>
                <a:spcPts val="2500"/>
              </a:lnSpc>
              <a:spcAft>
                <a:spcPts val="400"/>
              </a:spcAft>
            </a:pPr>
            <a:r>
              <a:rPr lang="en-US" sz="1900" b="true" i="false">
                <a:solidFill>
                  <a:srgbClr val="2B6CB0"/>
                </a:solidFill>
                <a:latin typeface="Times New Roman"/>
                <a:ea typeface="Times New Roman"/>
                <a:cs typeface="Times New Roman"/>
                <a:sym typeface="Times New Roman"/>
              </a:rPr>
              <a:t>• Month 3 (January 2027): Municipal Ward Rollout</a:t>
            </a:r>
          </a:p>
          <a:p>
            <a:pPr algn="just">
              <a:lnSpc>
                <a:spcPts val="2500"/>
              </a:lnSpc>
            </a:pPr>
            <a:r>
              <a:rPr lang="en-US" sz="1800" b="false" i="false">
                <a:solidFill>
                  <a:srgbClr val="2D3748"/>
                </a:solidFill>
                <a:latin typeface="Times New Roman"/>
                <a:ea typeface="Times New Roman"/>
                <a:cs typeface="Times New Roman"/>
                <a:sym typeface="Times New Roman"/>
              </a:rPr>
              <a:t>Deploy 100 units across selected commercial streets in Puducherry; conduct third-party waste density and collection frequency audit with municipal officials.</a:t>
            </a:r>
          </a:p>
        </p:txBody>
      </p:sp>
      <p:sp>
        <p:nvSpPr>
          <p:cNvPr name="Stage Demo Card" id="82"/>
          <p:cNvSpPr txBox="true"/>
          <p:nvPr/>
        </p:nvSpPr>
        <p:spPr>
          <a:xfrm rot="0">
            <a:off x="9350000" y="1950000"/>
            <a:ext cx="7900000" cy="5400000"/>
          </a:xfrm>
          <a:prstGeom prst="rect">
            <a:avLst/>
          </a:prstGeom>
          <a:solidFill>
            <a:srgbClr val="F7FAFC"/>
          </a:solidFill>
          <a:ln w="15000">
            <a:solidFill>
              <a:srgbClr val="CBD5E0"/>
            </a:solidFill>
          </a:ln>
        </p:spPr>
        <p:txBody>
          <a:bodyPr anchor="t" rtlCol="false" tIns="216000" lIns="288000" bIns="216000" rIns="288000">
            <a:spAutoFit/>
          </a:bodyPr>
          <a:lstStyle/>
          <a:p>
            <a:pPr algn="l">
              <a:lnSpc>
                <a:spcPts val="2800"/>
              </a:lnSpc>
              <a:spcAft>
                <a:spcPts val="1400"/>
              </a:spcAft>
            </a:pPr>
            <a:r>
              <a:rPr lang="en-US" sz="2200" b="true" i="false">
                <a:solidFill>
                  <a:srgbClr val="1B4D3E"/>
                </a:solidFill>
                <a:latin typeface="Times New Roman"/>
                <a:ea typeface="Times New Roman"/>
                <a:cs typeface="Times New Roman"/>
                <a:sym typeface="Times New Roman"/>
              </a:rPr>
              <a:t>TODAY'S 2-MINUTE LIVE STAGE DEMONSTRATION</a:t>
            </a:r>
          </a:p>
          <a:p>
            <a:pPr algn="just">
              <a:lnSpc>
                <a:spcPts val="2550"/>
              </a:lnSpc>
              <a:spcAft>
                <a:spcPts val="1100"/>
              </a:spcAft>
            </a:pPr>
            <a:r>
              <a:rPr lang="en-US" sz="1850" b="true" i="false">
                <a:solidFill>
                  <a:srgbClr val="1B4D3E"/>
                </a:solidFill>
                <a:latin typeface="Times New Roman"/>
                <a:ea typeface="Times New Roman"/>
                <a:cs typeface="Times New Roman"/>
                <a:sym typeface="Times New Roman"/>
              </a:rPr>
              <a:t>Step 1: Touchless Foot Actuation</a:t>
            </a:r>
            <a:r>
              <a:rPr lang="en-US" sz="1850" b="false" i="false">
                <a:solidFill>
                  <a:srgbClr val="2D3748"/>
                </a:solidFill>
                <a:latin typeface="Times New Roman"/>
                <a:ea typeface="Times New Roman"/>
                <a:cs typeface="Times New Roman"/>
                <a:sym typeface="Times New Roman"/>
              </a:rPr>
              <a:t> — Showing effortless pedal press; the lid unlatches without touching dirty surfaces.</a:t>
            </a:r>
          </a:p>
          <a:p>
            <a:pPr algn="just">
              <a:lnSpc>
                <a:spcPts val="2550"/>
              </a:lnSpc>
              <a:spcAft>
                <a:spcPts val="1100"/>
              </a:spcAft>
            </a:pPr>
            <a:r>
              <a:rPr lang="en-US" sz="1850" b="true" i="false">
                <a:solidFill>
                  <a:srgbClr val="1B4D3E"/>
                </a:solidFill>
                <a:latin typeface="Times New Roman"/>
                <a:ea typeface="Times New Roman"/>
                <a:cs typeface="Times New Roman"/>
                <a:sym typeface="Times New Roman"/>
              </a:rPr>
              <a:t>Step 2: Dropping Bulky PET Bottles</a:t>
            </a:r>
            <a:r>
              <a:rPr lang="en-US" sz="1850" b="false" i="false">
                <a:solidFill>
                  <a:srgbClr val="2D3748"/>
                </a:solidFill>
                <a:latin typeface="Times New Roman"/>
                <a:ea typeface="Times New Roman"/>
                <a:cs typeface="Times New Roman"/>
                <a:sym typeface="Times New Roman"/>
              </a:rPr>
              <a:t> — Placing 3 uncrushed water bottles inside, demonstrating how they choke a normal bin.</a:t>
            </a:r>
          </a:p>
          <a:p>
            <a:pPr algn="just">
              <a:lnSpc>
                <a:spcPts val="2550"/>
              </a:lnSpc>
              <a:spcAft>
                <a:spcPts val="1100"/>
              </a:spcAft>
            </a:pPr>
            <a:r>
              <a:rPr lang="en-US" sz="1850" b="true" i="false">
                <a:solidFill>
                  <a:srgbClr val="1B4D3E"/>
                </a:solidFill>
                <a:latin typeface="Times New Roman"/>
                <a:ea typeface="Times New Roman"/>
                <a:cs typeface="Times New Roman"/>
                <a:sym typeface="Times New Roman"/>
              </a:rPr>
              <a:t>Step 3: Single Firm Compaction Stroke</a:t>
            </a:r>
            <a:r>
              <a:rPr lang="en-US" sz="1850" b="false" i="false">
                <a:solidFill>
                  <a:srgbClr val="2D3748"/>
                </a:solidFill>
                <a:latin typeface="Times New Roman"/>
                <a:ea typeface="Times New Roman"/>
                <a:cs typeface="Times New Roman"/>
                <a:sym typeface="Times New Roman"/>
              </a:rPr>
              <a:t> — Stepping down once with an audible, satisfying mechanical crush.</a:t>
            </a:r>
          </a:p>
          <a:p>
            <a:pPr algn="just">
              <a:lnSpc>
                <a:spcPts val="2550"/>
              </a:lnSpc>
            </a:pPr>
            <a:r>
              <a:rPr lang="en-US" sz="1850" b="true" i="false">
                <a:solidFill>
                  <a:srgbClr val="1B4D3E"/>
                </a:solidFill>
                <a:latin typeface="Times New Roman"/>
                <a:ea typeface="Times New Roman"/>
                <a:cs typeface="Times New Roman"/>
                <a:sym typeface="Times New Roman"/>
              </a:rPr>
              <a:t>Step 4: Proof of 75% Permanent Compaction</a:t>
            </a:r>
            <a:r>
              <a:rPr lang="en-US" sz="1850" b="false" i="false">
                <a:solidFill>
                  <a:srgbClr val="2D3748"/>
                </a:solidFill>
                <a:latin typeface="Times New Roman"/>
                <a:ea typeface="Times New Roman"/>
                <a:cs typeface="Times New Roman"/>
                <a:sym typeface="Times New Roman"/>
              </a:rPr>
              <a:t> — Opening the inspection hatch to show flat bottles locked safely under the retention baffles.</a:t>
            </a:r>
          </a:p>
        </p:txBody>
      </p:sp>
      <p:sp>
        <p:nvSpPr>
          <p:cNvPr name="Closing Statement" id="83"/>
          <p:cNvSpPr txBox="true"/>
          <p:nvPr/>
        </p:nvSpPr>
        <p:spPr>
          <a:xfrm rot="0">
            <a:off x="1028700" y="7550000"/>
            <a:ext cx="16230600" cy="1900000"/>
          </a:xfrm>
          <a:prstGeom prst="rect">
            <a:avLst/>
          </a:prstGeom>
          <a:solidFill>
            <a:srgbClr val="EDF2F7"/>
          </a:solidFill>
          <a:ln w="15000">
            <a:solidFill>
              <a:srgbClr val="CBD5E0"/>
            </a:solidFill>
          </a:ln>
        </p:spPr>
        <p:txBody>
          <a:bodyPr anchor="t" rtlCol="false" tIns="216000" lIns="288000" bIns="216000" rIns="288000">
            <a:spAutoFit/>
          </a:bodyPr>
          <a:lstStyle/>
          <a:p>
            <a:pPr algn="ctr">
              <a:lnSpc>
                <a:spcPts val="2800"/>
              </a:lnSpc>
              <a:spcAft>
                <a:spcPts val="800"/>
              </a:spcAft>
            </a:pPr>
            <a:r>
              <a:rPr lang="en-US" sz="2100" b="true" i="false">
                <a:solidFill>
                  <a:srgbClr val="1B4D3E"/>
                </a:solidFill>
                <a:latin typeface="Times New Roman"/>
                <a:ea typeface="Times New Roman"/>
                <a:cs typeface="Times New Roman"/>
                <a:sym typeface="Times New Roman"/>
              </a:rPr>
              <a:t>OUR CLOSING COMMITMENT TO THE JURY</a:t>
            </a:r>
          </a:p>
          <a:p>
            <a:pPr algn="ctr">
              <a:lnSpc>
                <a:spcPts val="2800"/>
              </a:lnSpc>
            </a:pPr>
            <a:r>
              <a:rPr lang="en-US" sz="2000" b="true" i="true">
                <a:solidFill>
                  <a:srgbClr val="1A202C"/>
                </a:solidFill>
                <a:latin typeface="Times New Roman"/>
                <a:ea typeface="Times New Roman"/>
                <a:cs typeface="Times New Roman"/>
                <a:sym typeface="Times New Roman"/>
              </a:rPr>
              <a:t>"Respected Judges, instead of spending crores on electronics that break under Indian rain and dust, IdleBin uses simple mechanical physics for Rs. 700 to hold 4 times more plastic, keeping our streets permanently clean."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DAHYzEecoas</dc:identifier>
  <dcterms:modified xsi:type="dcterms:W3CDTF">2011-08-01T06:04:30Z</dcterms:modified>
  <cp:revision>1</cp:revision>
  <dc:title>Pitch template Emerge for good</dc:title>
</cp:coreProperties>
</file>